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y="10287000" cx="18288000"/>
  <p:notesSz cx="6858000" cy="9144000"/>
  <p:embeddedFontLst>
    <p:embeddedFont>
      <p:font typeface="Calibri (MS) Bold" panose="020F0702030404030204" charset="1"/>
      <p:regular r:id="rId14"/>
    </p:embeddedFont>
    <p:embeddedFont>
      <p:font typeface="Calibri (MS)" panose="020F0502020204030204" charset="1"/>
      <p:regular r:id="rId15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6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6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7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7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7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8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2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4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4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5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5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5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5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5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5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5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5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5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6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1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1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6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6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3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3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3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3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3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3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2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8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Box 2"/>
          <p:cNvSpPr txBox="1"/>
          <p:nvPr/>
        </p:nvSpPr>
        <p:spPr>
          <a:xfrm rot="0">
            <a:off x="3671922" y="1501492"/>
            <a:ext cx="11131450" cy="1120901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4413"/>
              </a:lnSpc>
              <a:spcBef>
                <a:spcPct val="0"/>
              </a:spcBef>
            </a:pPr>
            <a:r>
              <a:rPr b="1" sz="3677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Topic : LegalEase:Al Powered Legal Documents generated </a:t>
            </a:r>
          </a:p>
        </p:txBody>
      </p:sp>
      <p:sp>
        <p:nvSpPr>
          <p:cNvPr id="1048585" name="TextBox 3"/>
          <p:cNvSpPr txBox="1"/>
          <p:nvPr/>
        </p:nvSpPr>
        <p:spPr>
          <a:xfrm rot="0">
            <a:off x="6207635" y="3728417"/>
            <a:ext cx="5467573" cy="5866511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6599"/>
              </a:lnSpc>
            </a:pP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endParaRPr altLang="en-US" lang="zh-CN"/>
          </a:p>
          <a:p>
            <a:pPr algn="ctr">
              <a:lnSpc>
                <a:spcPts val="6599"/>
              </a:lnSpc>
            </a:pP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endParaRPr altLang="en-US" lang="zh-CN"/>
          </a:p>
          <a:p>
            <a:pPr algn="ctr">
              <a:lnSpc>
                <a:spcPts val="6599"/>
              </a:lnSpc>
            </a:pP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endParaRPr altLang="en-US" lang="zh-CN"/>
          </a:p>
          <a:p>
            <a:pPr algn="ctr">
              <a:lnSpc>
                <a:spcPts val="6599"/>
              </a:lnSpc>
            </a:pP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endParaRPr altLang="en-US" lang="zh-CN"/>
          </a:p>
          <a:p>
            <a:pPr algn="ctr">
              <a:lnSpc>
                <a:spcPts val="6599"/>
              </a:lnSpc>
            </a:pP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endParaRPr altLang="en-US" lang="zh-CN"/>
          </a:p>
          <a:p>
            <a:pPr algn="ctr">
              <a:lnSpc>
                <a:spcPts val="6599"/>
              </a:lnSpc>
            </a:pP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altLang="en-GB" b="1" sz="5499" lang="en-US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endParaRPr altLang="en-US" lang="zh-CN"/>
          </a:p>
        </p:txBody>
      </p:sp>
      <p:sp>
        <p:nvSpPr>
          <p:cNvPr id="1048586" name="TextBox 4"/>
          <p:cNvSpPr txBox="1"/>
          <p:nvPr/>
        </p:nvSpPr>
        <p:spPr>
          <a:xfrm rot="0">
            <a:off x="5442431" y="8967420"/>
            <a:ext cx="7590433" cy="627507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4941"/>
              </a:lnSpc>
              <a:spcBef>
                <a:spcPct val="0"/>
              </a:spcBef>
            </a:pPr>
            <a:endParaRPr altLang="en-US" lang="zh-CN"/>
          </a:p>
        </p:txBody>
      </p:sp>
      <p:sp>
        <p:nvSpPr>
          <p:cNvPr id="1048587" name=""/>
          <p:cNvSpPr txBox="1"/>
          <p:nvPr/>
        </p:nvSpPr>
        <p:spPr>
          <a:xfrm>
            <a:off x="7144000" y="49339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extBox 2"/>
          <p:cNvSpPr txBox="1"/>
          <p:nvPr/>
        </p:nvSpPr>
        <p:spPr>
          <a:xfrm rot="0">
            <a:off x="1189577" y="2030492"/>
            <a:ext cx="9837630" cy="189877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7926"/>
              </a:lnSpc>
            </a:pPr>
            <a:r>
              <a:rPr b="1" sz="6605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LegalEase</a:t>
            </a:r>
          </a:p>
          <a:p>
            <a:pPr algn="l">
              <a:lnSpc>
                <a:spcPts val="4143"/>
              </a:lnSpc>
            </a:pPr>
            <a:r>
              <a:rPr sz="3452" lang="en-US">
                <a:solidFill>
                  <a:srgbClr val="366FC4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Legal Document Generator</a:t>
            </a:r>
          </a:p>
          <a:p>
            <a:pPr algn="l">
              <a:lnSpc>
                <a:spcPts val="2882"/>
              </a:lnSpc>
            </a:pPr>
            <a:r>
              <a:rPr sz="24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Smart • Simple • Faster</a:t>
            </a:r>
          </a:p>
        </p:txBody>
      </p:sp>
      <p:grpSp>
        <p:nvGrpSpPr>
          <p:cNvPr id="28" name="Group 3"/>
          <p:cNvGrpSpPr/>
          <p:nvPr/>
        </p:nvGrpSpPr>
        <p:grpSpPr>
          <a:xfrm rot="0">
            <a:off x="12346905" y="2051856"/>
            <a:ext cx="3445983" cy="1386973"/>
            <a:chOff x="0" y="0"/>
            <a:chExt cx="4594644" cy="1849298"/>
          </a:xfrm>
        </p:grpSpPr>
        <p:sp>
          <p:nvSpPr>
            <p:cNvPr id="1048589" name="Freeform 4"/>
            <p:cNvSpPr/>
            <p:nvPr/>
          </p:nvSpPr>
          <p:spPr>
            <a:xfrm rot="0" flipH="0" flipV="0">
              <a:off x="0" y="0"/>
              <a:ext cx="4594606" cy="1849247"/>
            </a:xfrm>
            <a:custGeom>
              <a:avLst/>
              <a:ahLst/>
              <a:rect l="l" t="t" r="r" b="b"/>
              <a:pathLst>
                <a:path w="4594606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590" name="TextBox 5"/>
          <p:cNvSpPr txBox="1"/>
          <p:nvPr/>
        </p:nvSpPr>
        <p:spPr>
          <a:xfrm rot="0">
            <a:off x="12555303" y="2176443"/>
            <a:ext cx="3029169" cy="36601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882"/>
              </a:lnSpc>
            </a:pPr>
            <a:r>
              <a:rPr b="1" sz="24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</a:t>
            </a:r>
          </a:p>
        </p:txBody>
      </p:sp>
      <p:grpSp>
        <p:nvGrpSpPr>
          <p:cNvPr id="29" name="Group 6"/>
          <p:cNvGrpSpPr/>
          <p:nvPr/>
        </p:nvGrpSpPr>
        <p:grpSpPr>
          <a:xfrm rot="0">
            <a:off x="12346905" y="4248131"/>
            <a:ext cx="3445983" cy="1386973"/>
            <a:chOff x="0" y="0"/>
            <a:chExt cx="4594644" cy="1849298"/>
          </a:xfrm>
        </p:grpSpPr>
        <p:sp>
          <p:nvSpPr>
            <p:cNvPr id="1048591" name="Freeform 7"/>
            <p:cNvSpPr/>
            <p:nvPr/>
          </p:nvSpPr>
          <p:spPr>
            <a:xfrm rot="0" flipH="0" flipV="0">
              <a:off x="0" y="0"/>
              <a:ext cx="4594606" cy="1849247"/>
            </a:xfrm>
            <a:custGeom>
              <a:avLst/>
              <a:ahLst/>
              <a:rect l="l" t="t" r="r" b="b"/>
              <a:pathLst>
                <a:path w="4594606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592" name="TextBox 8"/>
          <p:cNvSpPr txBox="1"/>
          <p:nvPr/>
        </p:nvSpPr>
        <p:spPr>
          <a:xfrm rot="0">
            <a:off x="12555303" y="4372718"/>
            <a:ext cx="3029169" cy="3660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882"/>
              </a:lnSpc>
            </a:pPr>
            <a:r>
              <a:rPr b="1" sz="24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ENGINE</a:t>
            </a:r>
          </a:p>
        </p:txBody>
      </p:sp>
      <p:grpSp>
        <p:nvGrpSpPr>
          <p:cNvPr id="30" name="Group 9"/>
          <p:cNvGrpSpPr/>
          <p:nvPr/>
        </p:nvGrpSpPr>
        <p:grpSpPr>
          <a:xfrm rot="0">
            <a:off x="12346905" y="6444415"/>
            <a:ext cx="3445983" cy="1386973"/>
            <a:chOff x="0" y="0"/>
            <a:chExt cx="4594644" cy="1849298"/>
          </a:xfrm>
        </p:grpSpPr>
        <p:sp>
          <p:nvSpPr>
            <p:cNvPr id="1048593" name="Freeform 10"/>
            <p:cNvSpPr/>
            <p:nvPr/>
          </p:nvSpPr>
          <p:spPr>
            <a:xfrm rot="0" flipH="0" flipV="0">
              <a:off x="0" y="0"/>
              <a:ext cx="4594606" cy="1849247"/>
            </a:xfrm>
            <a:custGeom>
              <a:avLst/>
              <a:ahLst/>
              <a:rect l="l" t="t" r="r" b="b"/>
              <a:pathLst>
                <a:path w="4594606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594" name="TextBox 11"/>
          <p:cNvSpPr txBox="1"/>
          <p:nvPr/>
        </p:nvSpPr>
        <p:spPr>
          <a:xfrm rot="0">
            <a:off x="12555303" y="6549942"/>
            <a:ext cx="3029169" cy="68630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</a:t>
            </a:r>
          </a:p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</a:t>
            </a:r>
          </a:p>
        </p:txBody>
      </p:sp>
      <p:sp>
        <p:nvSpPr>
          <p:cNvPr id="1048595" name="AutoShape 12"/>
          <p:cNvSpPr/>
          <p:nvPr/>
        </p:nvSpPr>
        <p:spPr>
          <a:xfrm rot="5247960">
            <a:off x="13638600" y="3833955"/>
            <a:ext cx="86257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596" name="AutoShape 13"/>
          <p:cNvSpPr/>
          <p:nvPr/>
        </p:nvSpPr>
        <p:spPr>
          <a:xfrm rot="5247960">
            <a:off x="13638600" y="6030230"/>
            <a:ext cx="86257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597" name="TextBox 14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extBox 2"/>
          <p:cNvSpPr txBox="1"/>
          <p:nvPr/>
        </p:nvSpPr>
        <p:spPr>
          <a:xfrm rot="0">
            <a:off x="846411" y="344348"/>
            <a:ext cx="12033904" cy="64046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Introduction</a:t>
            </a:r>
          </a:p>
        </p:txBody>
      </p:sp>
      <p:sp>
        <p:nvSpPr>
          <p:cNvPr id="1048599" name="TextBox 3"/>
          <p:cNvSpPr txBox="1"/>
          <p:nvPr/>
        </p:nvSpPr>
        <p:spPr>
          <a:xfrm rot="0">
            <a:off x="887587" y="1188120"/>
            <a:ext cx="13269306" cy="27444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Why LegalEase?</a:t>
            </a:r>
          </a:p>
        </p:txBody>
      </p:sp>
      <p:grpSp>
        <p:nvGrpSpPr>
          <p:cNvPr id="32" name="Group 4"/>
          <p:cNvGrpSpPr/>
          <p:nvPr/>
        </p:nvGrpSpPr>
        <p:grpSpPr>
          <a:xfrm rot="0">
            <a:off x="953719" y="2120494"/>
            <a:ext cx="7701267" cy="1867405"/>
            <a:chOff x="0" y="0"/>
            <a:chExt cx="10268356" cy="2489873"/>
          </a:xfrm>
        </p:grpSpPr>
        <p:sp>
          <p:nvSpPr>
            <p:cNvPr id="1048600" name="Freeform 5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3" name="Group 6"/>
          <p:cNvGrpSpPr/>
          <p:nvPr/>
        </p:nvGrpSpPr>
        <p:grpSpPr>
          <a:xfrm rot="0">
            <a:off x="960872" y="2127647"/>
            <a:ext cx="109814" cy="1853108"/>
            <a:chOff x="0" y="0"/>
            <a:chExt cx="146418" cy="2470810"/>
          </a:xfrm>
        </p:grpSpPr>
        <p:sp>
          <p:nvSpPr>
            <p:cNvPr id="1048601" name="Freeform 7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02" name="TextBox 8"/>
          <p:cNvSpPr txBox="1"/>
          <p:nvPr/>
        </p:nvSpPr>
        <p:spPr>
          <a:xfrm rot="0">
            <a:off x="1395479" y="2335844"/>
            <a:ext cx="6886384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 documents</a:t>
            </a:r>
          </a:p>
        </p:txBody>
      </p:sp>
      <p:sp>
        <p:nvSpPr>
          <p:cNvPr id="1048603" name="TextBox 9"/>
          <p:cNvSpPr txBox="1"/>
          <p:nvPr/>
        </p:nvSpPr>
        <p:spPr>
          <a:xfrm rot="0">
            <a:off x="1395479" y="2986316"/>
            <a:ext cx="6886384" cy="52603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Contracts, agreements, notices and other documents are important in everyday and business activities.</a:t>
            </a:r>
          </a:p>
        </p:txBody>
      </p:sp>
      <p:grpSp>
        <p:nvGrpSpPr>
          <p:cNvPr id="34" name="Group 10"/>
          <p:cNvGrpSpPr/>
          <p:nvPr/>
        </p:nvGrpSpPr>
        <p:grpSpPr>
          <a:xfrm rot="0">
            <a:off x="953719" y="4316768"/>
            <a:ext cx="7701267" cy="1867405"/>
            <a:chOff x="0" y="0"/>
            <a:chExt cx="10268356" cy="2489873"/>
          </a:xfrm>
        </p:grpSpPr>
        <p:sp>
          <p:nvSpPr>
            <p:cNvPr id="1048604" name="Freeform 11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5" name="Group 12"/>
          <p:cNvGrpSpPr/>
          <p:nvPr/>
        </p:nvGrpSpPr>
        <p:grpSpPr>
          <a:xfrm rot="0">
            <a:off x="960872" y="4323921"/>
            <a:ext cx="109814" cy="1853108"/>
            <a:chOff x="0" y="0"/>
            <a:chExt cx="146418" cy="2470810"/>
          </a:xfrm>
        </p:grpSpPr>
        <p:sp>
          <p:nvSpPr>
            <p:cNvPr id="1048605" name="Freeform 13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06" name="TextBox 14"/>
          <p:cNvSpPr txBox="1"/>
          <p:nvPr/>
        </p:nvSpPr>
        <p:spPr>
          <a:xfrm rot="0">
            <a:off x="1395479" y="4532119"/>
            <a:ext cx="6886384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challenge</a:t>
            </a:r>
          </a:p>
        </p:txBody>
      </p:sp>
      <p:sp>
        <p:nvSpPr>
          <p:cNvPr id="1048607" name="TextBox 15"/>
          <p:cNvSpPr txBox="1"/>
          <p:nvPr/>
        </p:nvSpPr>
        <p:spPr>
          <a:xfrm rot="0">
            <a:off x="1395479" y="5182591"/>
            <a:ext cx="6886384" cy="52603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drafting can take time, and legal language may be difficult for non-experts.</a:t>
            </a:r>
          </a:p>
        </p:txBody>
      </p:sp>
      <p:grpSp>
        <p:nvGrpSpPr>
          <p:cNvPr id="36" name="Group 16"/>
          <p:cNvGrpSpPr/>
          <p:nvPr/>
        </p:nvGrpSpPr>
        <p:grpSpPr>
          <a:xfrm rot="0">
            <a:off x="9601562" y="2120494"/>
            <a:ext cx="7701267" cy="1867405"/>
            <a:chOff x="0" y="0"/>
            <a:chExt cx="10268356" cy="2489873"/>
          </a:xfrm>
        </p:grpSpPr>
        <p:sp>
          <p:nvSpPr>
            <p:cNvPr id="1048608" name="Freeform 17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7" name="Group 18"/>
          <p:cNvGrpSpPr/>
          <p:nvPr/>
        </p:nvGrpSpPr>
        <p:grpSpPr>
          <a:xfrm rot="0">
            <a:off x="9608706" y="2127647"/>
            <a:ext cx="109814" cy="1853108"/>
            <a:chOff x="0" y="0"/>
            <a:chExt cx="146418" cy="2470810"/>
          </a:xfrm>
        </p:grpSpPr>
        <p:sp>
          <p:nvSpPr>
            <p:cNvPr id="1048609" name="Freeform 19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10" name="TextBox 20"/>
          <p:cNvSpPr txBox="1"/>
          <p:nvPr/>
        </p:nvSpPr>
        <p:spPr>
          <a:xfrm rot="0">
            <a:off x="10043312" y="2335844"/>
            <a:ext cx="6886384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idea</a:t>
            </a:r>
          </a:p>
        </p:txBody>
      </p:sp>
      <p:sp>
        <p:nvSpPr>
          <p:cNvPr id="1048611" name="TextBox 21"/>
          <p:cNvSpPr txBox="1"/>
          <p:nvPr/>
        </p:nvSpPr>
        <p:spPr>
          <a:xfrm rot="0">
            <a:off x="10043312" y="2986316"/>
            <a:ext cx="6886384" cy="52603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LegalEase uses AI to convert user-provided information into a structured document draft.</a:t>
            </a:r>
          </a:p>
        </p:txBody>
      </p:sp>
      <p:grpSp>
        <p:nvGrpSpPr>
          <p:cNvPr id="38" name="Group 22"/>
          <p:cNvGrpSpPr/>
          <p:nvPr/>
        </p:nvGrpSpPr>
        <p:grpSpPr>
          <a:xfrm rot="0">
            <a:off x="9601562" y="4316768"/>
            <a:ext cx="7701267" cy="1867405"/>
            <a:chOff x="0" y="0"/>
            <a:chExt cx="10268356" cy="2489873"/>
          </a:xfrm>
        </p:grpSpPr>
        <p:sp>
          <p:nvSpPr>
            <p:cNvPr id="1048612" name="Freeform 23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9" name="Group 24"/>
          <p:cNvGrpSpPr/>
          <p:nvPr/>
        </p:nvGrpSpPr>
        <p:grpSpPr>
          <a:xfrm rot="0">
            <a:off x="9608706" y="4323921"/>
            <a:ext cx="109814" cy="1853108"/>
            <a:chOff x="0" y="0"/>
            <a:chExt cx="146418" cy="2470810"/>
          </a:xfrm>
        </p:grpSpPr>
        <p:sp>
          <p:nvSpPr>
            <p:cNvPr id="1048613" name="Freeform 25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14" name="TextBox 26"/>
          <p:cNvSpPr txBox="1"/>
          <p:nvPr/>
        </p:nvSpPr>
        <p:spPr>
          <a:xfrm rot="0">
            <a:off x="10043312" y="4532119"/>
            <a:ext cx="6886384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Goal</a:t>
            </a:r>
          </a:p>
        </p:txBody>
      </p:sp>
      <p:sp>
        <p:nvSpPr>
          <p:cNvPr id="1048615" name="TextBox 27"/>
          <p:cNvSpPr txBox="1"/>
          <p:nvPr/>
        </p:nvSpPr>
        <p:spPr>
          <a:xfrm rot="0">
            <a:off x="10043312" y="5182591"/>
            <a:ext cx="6886384" cy="26301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Make basic document drafting faster, clearer and easier to access.</a:t>
            </a:r>
          </a:p>
        </p:txBody>
      </p:sp>
      <p:grpSp>
        <p:nvGrpSpPr>
          <p:cNvPr id="40" name="Group 28"/>
          <p:cNvGrpSpPr/>
          <p:nvPr/>
        </p:nvGrpSpPr>
        <p:grpSpPr>
          <a:xfrm rot="0">
            <a:off x="5758072" y="7336650"/>
            <a:ext cx="6603130" cy="1112434"/>
            <a:chOff x="0" y="0"/>
            <a:chExt cx="8804173" cy="1483246"/>
          </a:xfrm>
        </p:grpSpPr>
        <p:sp>
          <p:nvSpPr>
            <p:cNvPr id="1048616" name="Freeform 29"/>
            <p:cNvSpPr/>
            <p:nvPr/>
          </p:nvSpPr>
          <p:spPr>
            <a:xfrm rot="0" flipH="0" flipV="0">
              <a:off x="0" y="0"/>
              <a:ext cx="8804275" cy="1483360"/>
            </a:xfrm>
            <a:custGeom>
              <a:avLst/>
              <a:ahLst/>
              <a:rect l="l" t="t" r="r" b="b"/>
              <a:pathLst>
                <a:path w="8804275" h="1483360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8557006" y="0"/>
                  </a:lnTo>
                  <a:cubicBezTo>
                    <a:pt x="8693531" y="0"/>
                    <a:pt x="8804275" y="110744"/>
                    <a:pt x="8804275" y="247269"/>
                  </a:cubicBezTo>
                  <a:lnTo>
                    <a:pt x="8804275" y="1236091"/>
                  </a:lnTo>
                  <a:cubicBezTo>
                    <a:pt x="8804275" y="1372616"/>
                    <a:pt x="8693531" y="1483360"/>
                    <a:pt x="8557006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17" name="TextBox 30"/>
          <p:cNvSpPr txBox="1"/>
          <p:nvPr/>
        </p:nvSpPr>
        <p:spPr>
          <a:xfrm rot="0">
            <a:off x="5966479" y="7442178"/>
            <a:ext cx="6186316" cy="34315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INPUT  →  AI  →  DOCUMENT</a:t>
            </a:r>
          </a:p>
        </p:txBody>
      </p:sp>
      <p:sp>
        <p:nvSpPr>
          <p:cNvPr id="1048618" name="TextBox 31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extBox 2"/>
          <p:cNvSpPr txBox="1"/>
          <p:nvPr/>
        </p:nvSpPr>
        <p:spPr>
          <a:xfrm rot="0">
            <a:off x="846411" y="344348"/>
            <a:ext cx="12033904" cy="64046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Problem Statement</a:t>
            </a:r>
          </a:p>
        </p:txBody>
      </p:sp>
      <p:sp>
        <p:nvSpPr>
          <p:cNvPr id="1048620" name="TextBox 3"/>
          <p:cNvSpPr txBox="1"/>
          <p:nvPr/>
        </p:nvSpPr>
        <p:spPr>
          <a:xfrm rot="0">
            <a:off x="887587" y="1188120"/>
            <a:ext cx="13269306" cy="27444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Limitations of traditional legal document preparation</a:t>
            </a:r>
          </a:p>
        </p:txBody>
      </p:sp>
      <p:grpSp>
        <p:nvGrpSpPr>
          <p:cNvPr id="42" name="Group 4"/>
          <p:cNvGrpSpPr/>
          <p:nvPr/>
        </p:nvGrpSpPr>
        <p:grpSpPr>
          <a:xfrm rot="0">
            <a:off x="953719" y="2051856"/>
            <a:ext cx="7838532" cy="2279209"/>
            <a:chOff x="0" y="0"/>
            <a:chExt cx="10451376" cy="3038945"/>
          </a:xfrm>
        </p:grpSpPr>
        <p:sp>
          <p:nvSpPr>
            <p:cNvPr id="1048621" name="Freeform 5"/>
            <p:cNvSpPr/>
            <p:nvPr/>
          </p:nvSpPr>
          <p:spPr>
            <a:xfrm rot="0" flipH="0" flipV="0">
              <a:off x="0" y="0"/>
              <a:ext cx="10451338" cy="3038856"/>
            </a:xfrm>
            <a:custGeom>
              <a:avLst/>
              <a:ahLst/>
              <a:rect l="l" t="t" r="r" b="b"/>
              <a:pathLst>
                <a:path w="10451338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3" name="Group 6"/>
          <p:cNvGrpSpPr/>
          <p:nvPr/>
        </p:nvGrpSpPr>
        <p:grpSpPr>
          <a:xfrm rot="0">
            <a:off x="960872" y="2059010"/>
            <a:ext cx="109814" cy="2264912"/>
            <a:chOff x="0" y="0"/>
            <a:chExt cx="146418" cy="3019882"/>
          </a:xfrm>
        </p:grpSpPr>
        <p:sp>
          <p:nvSpPr>
            <p:cNvPr id="1048622" name="Freeform 7"/>
            <p:cNvSpPr/>
            <p:nvPr/>
          </p:nvSpPr>
          <p:spPr>
            <a:xfrm rot="0" flipH="0" flipV="0">
              <a:off x="0" y="0"/>
              <a:ext cx="146431" cy="3019933"/>
            </a:xfrm>
            <a:custGeom>
              <a:avLst/>
              <a:ahLst/>
              <a:rect l="l" t="t" r="r" b="b"/>
              <a:pathLst>
                <a:path w="146431" h="3019933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23" name="TextBox 8"/>
          <p:cNvSpPr txBox="1"/>
          <p:nvPr/>
        </p:nvSpPr>
        <p:spPr>
          <a:xfrm rot="0">
            <a:off x="1395479" y="2267207"/>
            <a:ext cx="7023649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</a:t>
            </a:r>
          </a:p>
        </p:txBody>
      </p:sp>
      <p:sp>
        <p:nvSpPr>
          <p:cNvPr id="1048624" name="TextBox 9"/>
          <p:cNvSpPr txBox="1"/>
          <p:nvPr/>
        </p:nvSpPr>
        <p:spPr>
          <a:xfrm rot="0">
            <a:off x="1395479" y="2917688"/>
            <a:ext cx="7023649" cy="26301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drafting is repetitive.</a:t>
            </a:r>
          </a:p>
        </p:txBody>
      </p:sp>
      <p:grpSp>
        <p:nvGrpSpPr>
          <p:cNvPr id="44" name="Group 10"/>
          <p:cNvGrpSpPr/>
          <p:nvPr/>
        </p:nvGrpSpPr>
        <p:grpSpPr>
          <a:xfrm rot="0">
            <a:off x="9532925" y="2051856"/>
            <a:ext cx="7838532" cy="2279209"/>
            <a:chOff x="0" y="0"/>
            <a:chExt cx="10451376" cy="3038945"/>
          </a:xfrm>
        </p:grpSpPr>
        <p:sp>
          <p:nvSpPr>
            <p:cNvPr id="1048625" name="Freeform 11"/>
            <p:cNvSpPr/>
            <p:nvPr/>
          </p:nvSpPr>
          <p:spPr>
            <a:xfrm rot="0" flipH="0" flipV="0">
              <a:off x="0" y="0"/>
              <a:ext cx="10451338" cy="3038856"/>
            </a:xfrm>
            <a:custGeom>
              <a:avLst/>
              <a:ahLst/>
              <a:rect l="l" t="t" r="r" b="b"/>
              <a:pathLst>
                <a:path w="10451338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5" name="Group 12"/>
          <p:cNvGrpSpPr/>
          <p:nvPr/>
        </p:nvGrpSpPr>
        <p:grpSpPr>
          <a:xfrm rot="0">
            <a:off x="9540069" y="2059010"/>
            <a:ext cx="109814" cy="2264912"/>
            <a:chOff x="0" y="0"/>
            <a:chExt cx="146418" cy="3019882"/>
          </a:xfrm>
        </p:grpSpPr>
        <p:sp>
          <p:nvSpPr>
            <p:cNvPr id="1048626" name="Freeform 13"/>
            <p:cNvSpPr/>
            <p:nvPr/>
          </p:nvSpPr>
          <p:spPr>
            <a:xfrm rot="0" flipH="0" flipV="0">
              <a:off x="0" y="0"/>
              <a:ext cx="146431" cy="3019933"/>
            </a:xfrm>
            <a:custGeom>
              <a:avLst/>
              <a:ahLst/>
              <a:rect l="l" t="t" r="r" b="b"/>
              <a:pathLst>
                <a:path w="146431" h="3019933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id="1048627" name="TextBox 14"/>
          <p:cNvSpPr txBox="1"/>
          <p:nvPr/>
        </p:nvSpPr>
        <p:spPr>
          <a:xfrm rot="0">
            <a:off x="9974685" y="2267207"/>
            <a:ext cx="7023649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COST</a:t>
            </a:r>
          </a:p>
        </p:txBody>
      </p:sp>
      <p:sp>
        <p:nvSpPr>
          <p:cNvPr id="1048628" name="TextBox 15"/>
          <p:cNvSpPr txBox="1"/>
          <p:nvPr/>
        </p:nvSpPr>
        <p:spPr>
          <a:xfrm rot="0">
            <a:off x="9974685" y="2917688"/>
            <a:ext cx="7023649" cy="26301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Professional drafting may be costly.</a:t>
            </a:r>
          </a:p>
        </p:txBody>
      </p:sp>
      <p:grpSp>
        <p:nvGrpSpPr>
          <p:cNvPr id="46" name="Group 16"/>
          <p:cNvGrpSpPr/>
          <p:nvPr/>
        </p:nvGrpSpPr>
        <p:grpSpPr>
          <a:xfrm rot="0">
            <a:off x="953719" y="5003102"/>
            <a:ext cx="7838532" cy="2279209"/>
            <a:chOff x="0" y="0"/>
            <a:chExt cx="10451376" cy="3038945"/>
          </a:xfrm>
        </p:grpSpPr>
        <p:sp>
          <p:nvSpPr>
            <p:cNvPr id="1048629" name="Freeform 17"/>
            <p:cNvSpPr/>
            <p:nvPr/>
          </p:nvSpPr>
          <p:spPr>
            <a:xfrm rot="0" flipH="0" flipV="0">
              <a:off x="0" y="0"/>
              <a:ext cx="10451338" cy="3038856"/>
            </a:xfrm>
            <a:custGeom>
              <a:avLst/>
              <a:ahLst/>
              <a:rect l="l" t="t" r="r" b="b"/>
              <a:pathLst>
                <a:path w="10451338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7" name="Group 18"/>
          <p:cNvGrpSpPr/>
          <p:nvPr/>
        </p:nvGrpSpPr>
        <p:grpSpPr>
          <a:xfrm rot="0">
            <a:off x="960872" y="5010255"/>
            <a:ext cx="109814" cy="2264912"/>
            <a:chOff x="0" y="0"/>
            <a:chExt cx="146418" cy="3019882"/>
          </a:xfrm>
        </p:grpSpPr>
        <p:sp>
          <p:nvSpPr>
            <p:cNvPr id="1048630" name="Freeform 19"/>
            <p:cNvSpPr/>
            <p:nvPr/>
          </p:nvSpPr>
          <p:spPr>
            <a:xfrm rot="0" flipH="0" flipV="0">
              <a:off x="0" y="0"/>
              <a:ext cx="146431" cy="3019933"/>
            </a:xfrm>
            <a:custGeom>
              <a:avLst/>
              <a:ahLst/>
              <a:rect l="l" t="t" r="r" b="b"/>
              <a:pathLst>
                <a:path w="146431" h="3019933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id="1048631" name="TextBox 20"/>
          <p:cNvSpPr txBox="1"/>
          <p:nvPr/>
        </p:nvSpPr>
        <p:spPr>
          <a:xfrm rot="0">
            <a:off x="1395479" y="5218452"/>
            <a:ext cx="7023649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COMPLEXITY</a:t>
            </a:r>
          </a:p>
        </p:txBody>
      </p:sp>
      <p:sp>
        <p:nvSpPr>
          <p:cNvPr id="1048632" name="TextBox 21"/>
          <p:cNvSpPr txBox="1"/>
          <p:nvPr/>
        </p:nvSpPr>
        <p:spPr>
          <a:xfrm rot="0">
            <a:off x="1395479" y="5868934"/>
            <a:ext cx="7023649" cy="26301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Legal terminology can be difficult.</a:t>
            </a:r>
          </a:p>
        </p:txBody>
      </p:sp>
      <p:grpSp>
        <p:nvGrpSpPr>
          <p:cNvPr id="48" name="Group 22"/>
          <p:cNvGrpSpPr/>
          <p:nvPr/>
        </p:nvGrpSpPr>
        <p:grpSpPr>
          <a:xfrm rot="0">
            <a:off x="9532925" y="5003102"/>
            <a:ext cx="7838532" cy="2279209"/>
            <a:chOff x="0" y="0"/>
            <a:chExt cx="10451376" cy="3038945"/>
          </a:xfrm>
        </p:grpSpPr>
        <p:sp>
          <p:nvSpPr>
            <p:cNvPr id="1048633" name="Freeform 23"/>
            <p:cNvSpPr/>
            <p:nvPr/>
          </p:nvSpPr>
          <p:spPr>
            <a:xfrm rot="0" flipH="0" flipV="0">
              <a:off x="0" y="0"/>
              <a:ext cx="10451338" cy="3038856"/>
            </a:xfrm>
            <a:custGeom>
              <a:avLst/>
              <a:ahLst/>
              <a:rect l="l" t="t" r="r" b="b"/>
              <a:pathLst>
                <a:path w="10451338" h="3038856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9" name="Group 24"/>
          <p:cNvGrpSpPr/>
          <p:nvPr/>
        </p:nvGrpSpPr>
        <p:grpSpPr>
          <a:xfrm rot="0">
            <a:off x="9540069" y="5010255"/>
            <a:ext cx="109814" cy="2264912"/>
            <a:chOff x="0" y="0"/>
            <a:chExt cx="146418" cy="3019882"/>
          </a:xfrm>
        </p:grpSpPr>
        <p:sp>
          <p:nvSpPr>
            <p:cNvPr id="1048634" name="Freeform 25"/>
            <p:cNvSpPr/>
            <p:nvPr/>
          </p:nvSpPr>
          <p:spPr>
            <a:xfrm rot="0" flipH="0" flipV="0">
              <a:off x="0" y="0"/>
              <a:ext cx="146431" cy="3019933"/>
            </a:xfrm>
            <a:custGeom>
              <a:avLst/>
              <a:ahLst/>
              <a:rect l="l" t="t" r="r" b="b"/>
              <a:pathLst>
                <a:path w="146431" h="3019933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35" name="TextBox 26"/>
          <p:cNvSpPr txBox="1"/>
          <p:nvPr/>
        </p:nvSpPr>
        <p:spPr>
          <a:xfrm rot="0">
            <a:off x="9974685" y="5218452"/>
            <a:ext cx="7023649" cy="34315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ERRORS</a:t>
            </a:r>
          </a:p>
        </p:txBody>
      </p:sp>
      <p:sp>
        <p:nvSpPr>
          <p:cNvPr id="1048636" name="TextBox 27"/>
          <p:cNvSpPr txBox="1"/>
          <p:nvPr/>
        </p:nvSpPr>
        <p:spPr>
          <a:xfrm rot="0">
            <a:off x="9974685" y="5868934"/>
            <a:ext cx="7023649" cy="26301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Missing details or formatting mistakes may occur.</a:t>
            </a:r>
          </a:p>
        </p:txBody>
      </p:sp>
      <p:grpSp>
        <p:nvGrpSpPr>
          <p:cNvPr id="50" name="Group 28"/>
          <p:cNvGrpSpPr/>
          <p:nvPr/>
        </p:nvGrpSpPr>
        <p:grpSpPr>
          <a:xfrm rot="0">
            <a:off x="4659935" y="8022984"/>
            <a:ext cx="8936669" cy="975170"/>
            <a:chOff x="0" y="0"/>
            <a:chExt cx="11915559" cy="1300226"/>
          </a:xfrm>
        </p:grpSpPr>
        <p:sp>
          <p:nvSpPr>
            <p:cNvPr id="1048637" name="Freeform 29"/>
            <p:cNvSpPr/>
            <p:nvPr/>
          </p:nvSpPr>
          <p:spPr>
            <a:xfrm rot="0" flipH="0" flipV="0">
              <a:off x="0" y="0"/>
              <a:ext cx="11915521" cy="1300226"/>
            </a:xfrm>
            <a:custGeom>
              <a:avLst/>
              <a:ahLst/>
              <a:rect l="l" t="t" r="r" b="b"/>
              <a:pathLst>
                <a:path w="11915521" h="1300226">
                  <a:moveTo>
                    <a:pt x="0" y="216662"/>
                  </a:moveTo>
                  <a:cubicBezTo>
                    <a:pt x="0" y="97028"/>
                    <a:pt x="97028" y="0"/>
                    <a:pt x="216662" y="0"/>
                  </a:cubicBezTo>
                  <a:lnTo>
                    <a:pt x="11698859" y="0"/>
                  </a:lnTo>
                  <a:cubicBezTo>
                    <a:pt x="11818493" y="0"/>
                    <a:pt x="11915521" y="97028"/>
                    <a:pt x="11915521" y="216662"/>
                  </a:cubicBezTo>
                  <a:lnTo>
                    <a:pt x="11915521" y="1083564"/>
                  </a:lnTo>
                  <a:cubicBezTo>
                    <a:pt x="11915521" y="1203198"/>
                    <a:pt x="11818493" y="1300226"/>
                    <a:pt x="11698859" y="1300226"/>
                  </a:cubicBezTo>
                  <a:lnTo>
                    <a:pt x="216662" y="1300226"/>
                  </a:lnTo>
                  <a:cubicBezTo>
                    <a:pt x="97028" y="1300226"/>
                    <a:pt x="0" y="1203198"/>
                    <a:pt x="0" y="108356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38" name="TextBox 30"/>
          <p:cNvSpPr txBox="1"/>
          <p:nvPr/>
        </p:nvSpPr>
        <p:spPr>
          <a:xfrm rot="0">
            <a:off x="4868342" y="8138046"/>
            <a:ext cx="8519865" cy="320167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NEED: A SIMPLE AI-ASSISTED DRAFTING SYSTEM</a:t>
            </a:r>
          </a:p>
        </p:txBody>
      </p:sp>
      <p:sp>
        <p:nvSpPr>
          <p:cNvPr id="1048639" name="TextBox 31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extBox 2"/>
          <p:cNvSpPr txBox="1"/>
          <p:nvPr/>
        </p:nvSpPr>
        <p:spPr>
          <a:xfrm rot="0">
            <a:off x="846411" y="344348"/>
            <a:ext cx="12033904" cy="64046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Proposed Solution</a:t>
            </a:r>
          </a:p>
        </p:txBody>
      </p:sp>
      <p:sp>
        <p:nvSpPr>
          <p:cNvPr id="1048641" name="TextBox 3"/>
          <p:cNvSpPr txBox="1"/>
          <p:nvPr/>
        </p:nvSpPr>
        <p:spPr>
          <a:xfrm rot="0">
            <a:off x="887587" y="1188120"/>
            <a:ext cx="13269306" cy="27444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LegalEase architecture</a:t>
            </a:r>
          </a:p>
        </p:txBody>
      </p:sp>
      <p:grpSp>
        <p:nvGrpSpPr>
          <p:cNvPr id="52" name="Group 4"/>
          <p:cNvGrpSpPr/>
          <p:nvPr/>
        </p:nvGrpSpPr>
        <p:grpSpPr>
          <a:xfrm rot="0">
            <a:off x="816454" y="3012729"/>
            <a:ext cx="2896914" cy="1386973"/>
            <a:chOff x="0" y="0"/>
            <a:chExt cx="3862553" cy="1849298"/>
          </a:xfrm>
        </p:grpSpPr>
        <p:sp>
          <p:nvSpPr>
            <p:cNvPr id="1048642" name="Freeform 5"/>
            <p:cNvSpPr/>
            <p:nvPr/>
          </p:nvSpPr>
          <p:spPr>
            <a:xfrm rot="0" flipH="0" flipV="0">
              <a:off x="0" y="0"/>
              <a:ext cx="3862578" cy="1849247"/>
            </a:xfrm>
            <a:custGeom>
              <a:avLst/>
              <a:ahLst/>
              <a:rect l="l" t="t" r="r" b="b"/>
              <a:pathLst>
                <a:path w="386257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554349" y="0"/>
                  </a:lnTo>
                  <a:cubicBezTo>
                    <a:pt x="3724529" y="0"/>
                    <a:pt x="3862578" y="138049"/>
                    <a:pt x="3862578" y="308229"/>
                  </a:cubicBezTo>
                  <a:lnTo>
                    <a:pt x="3862578" y="1541018"/>
                  </a:lnTo>
                  <a:cubicBezTo>
                    <a:pt x="3862578" y="1711198"/>
                    <a:pt x="3724529" y="1849247"/>
                    <a:pt x="355434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43" name="TextBox 6"/>
          <p:cNvSpPr txBox="1"/>
          <p:nvPr/>
        </p:nvSpPr>
        <p:spPr>
          <a:xfrm rot="0">
            <a:off x="1024861" y="3137316"/>
            <a:ext cx="2480100" cy="36601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882"/>
              </a:lnSpc>
            </a:pPr>
            <a:r>
              <a:rPr b="1" sz="24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</a:t>
            </a:r>
          </a:p>
        </p:txBody>
      </p:sp>
      <p:grpSp>
        <p:nvGrpSpPr>
          <p:cNvPr id="53" name="Group 7"/>
          <p:cNvGrpSpPr/>
          <p:nvPr/>
        </p:nvGrpSpPr>
        <p:grpSpPr>
          <a:xfrm rot="0">
            <a:off x="4454033" y="3012729"/>
            <a:ext cx="3171444" cy="1386973"/>
            <a:chOff x="0" y="0"/>
            <a:chExt cx="4228592" cy="1849298"/>
          </a:xfrm>
        </p:grpSpPr>
        <p:sp>
          <p:nvSpPr>
            <p:cNvPr id="1048644" name="Freeform 8"/>
            <p:cNvSpPr/>
            <p:nvPr/>
          </p:nvSpPr>
          <p:spPr>
            <a:xfrm rot="0" flipH="0" flipV="0">
              <a:off x="0" y="0"/>
              <a:ext cx="4228592" cy="1849247"/>
            </a:xfrm>
            <a:custGeom>
              <a:avLst/>
              <a:ahLst/>
              <a:rect l="l" t="t" r="r" b="b"/>
              <a:pathLst>
                <a:path w="4228592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920363" y="0"/>
                  </a:lnTo>
                  <a:cubicBezTo>
                    <a:pt x="4090543" y="0"/>
                    <a:pt x="4228592" y="138049"/>
                    <a:pt x="4228592" y="308229"/>
                  </a:cubicBezTo>
                  <a:lnTo>
                    <a:pt x="4228592" y="1541018"/>
                  </a:lnTo>
                  <a:cubicBezTo>
                    <a:pt x="4228592" y="1711198"/>
                    <a:pt x="4090543" y="1849247"/>
                    <a:pt x="3920363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45" name="TextBox 9"/>
          <p:cNvSpPr txBox="1"/>
          <p:nvPr/>
        </p:nvSpPr>
        <p:spPr>
          <a:xfrm rot="0">
            <a:off x="4662440" y="3118266"/>
            <a:ext cx="2754640" cy="34315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 FORM</a:t>
            </a:r>
          </a:p>
        </p:txBody>
      </p:sp>
      <p:grpSp>
        <p:nvGrpSpPr>
          <p:cNvPr id="54" name="Group 10"/>
          <p:cNvGrpSpPr/>
          <p:nvPr/>
        </p:nvGrpSpPr>
        <p:grpSpPr>
          <a:xfrm rot="0">
            <a:off x="8434788" y="3012729"/>
            <a:ext cx="3171444" cy="1386973"/>
            <a:chOff x="0" y="0"/>
            <a:chExt cx="4228592" cy="1849298"/>
          </a:xfrm>
        </p:grpSpPr>
        <p:sp>
          <p:nvSpPr>
            <p:cNvPr id="1048646" name="Freeform 11"/>
            <p:cNvSpPr/>
            <p:nvPr/>
          </p:nvSpPr>
          <p:spPr>
            <a:xfrm rot="0" flipH="0" flipV="0">
              <a:off x="0" y="0"/>
              <a:ext cx="4228592" cy="1849247"/>
            </a:xfrm>
            <a:custGeom>
              <a:avLst/>
              <a:ahLst/>
              <a:rect l="l" t="t" r="r" b="b"/>
              <a:pathLst>
                <a:path w="4228592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920363" y="0"/>
                  </a:lnTo>
                  <a:cubicBezTo>
                    <a:pt x="4090543" y="0"/>
                    <a:pt x="4228592" y="138049"/>
                    <a:pt x="4228592" y="308229"/>
                  </a:cubicBezTo>
                  <a:lnTo>
                    <a:pt x="4228592" y="1541018"/>
                  </a:lnTo>
                  <a:cubicBezTo>
                    <a:pt x="4228592" y="1711198"/>
                    <a:pt x="4090543" y="1849247"/>
                    <a:pt x="3920363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47" name="TextBox 12"/>
          <p:cNvSpPr txBox="1"/>
          <p:nvPr/>
        </p:nvSpPr>
        <p:spPr>
          <a:xfrm rot="0">
            <a:off x="8643185" y="3137316"/>
            <a:ext cx="2754640" cy="36601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882"/>
              </a:lnSpc>
            </a:pPr>
            <a:r>
              <a:rPr b="1" sz="24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/ NLP</a:t>
            </a:r>
          </a:p>
        </p:txBody>
      </p:sp>
      <p:grpSp>
        <p:nvGrpSpPr>
          <p:cNvPr id="55" name="Group 13"/>
          <p:cNvGrpSpPr/>
          <p:nvPr/>
        </p:nvGrpSpPr>
        <p:grpSpPr>
          <a:xfrm rot="0">
            <a:off x="12415533" y="3012729"/>
            <a:ext cx="3857777" cy="1386973"/>
            <a:chOff x="0" y="0"/>
            <a:chExt cx="5143703" cy="1849298"/>
          </a:xfrm>
        </p:grpSpPr>
        <p:sp>
          <p:nvSpPr>
            <p:cNvPr id="1048648" name="Freeform 14"/>
            <p:cNvSpPr/>
            <p:nvPr/>
          </p:nvSpPr>
          <p:spPr>
            <a:xfrm rot="0" flipH="0" flipV="0">
              <a:off x="0" y="0"/>
              <a:ext cx="5143754" cy="1849247"/>
            </a:xfrm>
            <a:custGeom>
              <a:avLst/>
              <a:ahLst/>
              <a:rect l="l" t="t" r="r" b="b"/>
              <a:pathLst>
                <a:path w="5143754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835525" y="0"/>
                  </a:lnTo>
                  <a:cubicBezTo>
                    <a:pt x="5005705" y="0"/>
                    <a:pt x="5143754" y="138049"/>
                    <a:pt x="5143754" y="308229"/>
                  </a:cubicBezTo>
                  <a:lnTo>
                    <a:pt x="5143754" y="1541018"/>
                  </a:lnTo>
                  <a:cubicBezTo>
                    <a:pt x="5143754" y="1711198"/>
                    <a:pt x="5005705" y="1849247"/>
                    <a:pt x="4835525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49" name="TextBox 15"/>
          <p:cNvSpPr txBox="1"/>
          <p:nvPr/>
        </p:nvSpPr>
        <p:spPr>
          <a:xfrm rot="0">
            <a:off x="12623940" y="3118266"/>
            <a:ext cx="3440973" cy="686308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</a:t>
            </a:r>
          </a:p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GENERATOR</a:t>
            </a:r>
          </a:p>
        </p:txBody>
      </p:sp>
      <p:sp>
        <p:nvSpPr>
          <p:cNvPr id="1048650" name="AutoShape 16"/>
          <p:cNvSpPr/>
          <p:nvPr/>
        </p:nvSpPr>
        <p:spPr>
          <a:xfrm rot="165120">
            <a:off x="3686689" y="3696691"/>
            <a:ext cx="79401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51" name="AutoShape 17"/>
          <p:cNvSpPr/>
          <p:nvPr/>
        </p:nvSpPr>
        <p:spPr>
          <a:xfrm rot="152040">
            <a:off x="7598845" y="3696691"/>
            <a:ext cx="86257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652" name="AutoShape 18"/>
          <p:cNvSpPr/>
          <p:nvPr/>
        </p:nvSpPr>
        <p:spPr>
          <a:xfrm rot="152040">
            <a:off x="11579590" y="3696691"/>
            <a:ext cx="86257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6" name="Group 19"/>
          <p:cNvGrpSpPr/>
          <p:nvPr/>
        </p:nvGrpSpPr>
        <p:grpSpPr>
          <a:xfrm rot="0">
            <a:off x="5620807" y="5963974"/>
            <a:ext cx="7152199" cy="1386973"/>
            <a:chOff x="0" y="0"/>
            <a:chExt cx="9536265" cy="1849298"/>
          </a:xfrm>
        </p:grpSpPr>
        <p:sp>
          <p:nvSpPr>
            <p:cNvPr id="1048653" name="Freeform 20"/>
            <p:cNvSpPr/>
            <p:nvPr/>
          </p:nvSpPr>
          <p:spPr>
            <a:xfrm rot="0" flipH="0" flipV="0">
              <a:off x="0" y="0"/>
              <a:ext cx="9536303" cy="1849247"/>
            </a:xfrm>
            <a:custGeom>
              <a:avLst/>
              <a:ahLst/>
              <a:rect l="l" t="t" r="r" b="b"/>
              <a:pathLst>
                <a:path w="9536303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9228074" y="0"/>
                  </a:lnTo>
                  <a:cubicBezTo>
                    <a:pt x="9398254" y="0"/>
                    <a:pt x="9536303" y="138049"/>
                    <a:pt x="9536303" y="308229"/>
                  </a:cubicBezTo>
                  <a:lnTo>
                    <a:pt x="9536303" y="1541018"/>
                  </a:lnTo>
                  <a:cubicBezTo>
                    <a:pt x="9536303" y="1711198"/>
                    <a:pt x="9398254" y="1849247"/>
                    <a:pt x="9228074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54" name="TextBox 21"/>
          <p:cNvSpPr txBox="1"/>
          <p:nvPr/>
        </p:nvSpPr>
        <p:spPr>
          <a:xfrm rot="0">
            <a:off x="5829205" y="6069511"/>
            <a:ext cx="6735385" cy="34315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REVIEW → EDIT → EXPORT</a:t>
            </a:r>
          </a:p>
        </p:txBody>
      </p:sp>
      <p:sp>
        <p:nvSpPr>
          <p:cNvPr id="1048655" name="AutoShape 22"/>
          <p:cNvSpPr/>
          <p:nvPr/>
        </p:nvSpPr>
        <p:spPr>
          <a:xfrm rot="9274620">
            <a:off x="10779966" y="5172313"/>
            <a:ext cx="3765861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7" name="Group 23"/>
          <p:cNvGrpSpPr/>
          <p:nvPr/>
        </p:nvGrpSpPr>
        <p:grpSpPr>
          <a:xfrm rot="0">
            <a:off x="1640062" y="7817082"/>
            <a:ext cx="15113698" cy="1386973"/>
            <a:chOff x="0" y="0"/>
            <a:chExt cx="20151598" cy="1849298"/>
          </a:xfrm>
        </p:grpSpPr>
        <p:sp>
          <p:nvSpPr>
            <p:cNvPr id="1048656" name="Freeform 24"/>
            <p:cNvSpPr/>
            <p:nvPr/>
          </p:nvSpPr>
          <p:spPr>
            <a:xfrm rot="0" flipH="0" flipV="0">
              <a:off x="0" y="0"/>
              <a:ext cx="20151598" cy="1849247"/>
            </a:xfrm>
            <a:custGeom>
              <a:avLst/>
              <a:ahLst/>
              <a:rect l="l" t="t" r="r" b="b"/>
              <a:pathLst>
                <a:path w="2015159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19843369" y="0"/>
                  </a:lnTo>
                  <a:cubicBezTo>
                    <a:pt x="20013549" y="0"/>
                    <a:pt x="20151598" y="138049"/>
                    <a:pt x="20151598" y="308229"/>
                  </a:cubicBezTo>
                  <a:lnTo>
                    <a:pt x="20151598" y="1541018"/>
                  </a:lnTo>
                  <a:cubicBezTo>
                    <a:pt x="20151598" y="1711198"/>
                    <a:pt x="20013549" y="1849247"/>
                    <a:pt x="1984336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58" name="Group 25"/>
          <p:cNvGrpSpPr/>
          <p:nvPr/>
        </p:nvGrpSpPr>
        <p:grpSpPr>
          <a:xfrm rot="0">
            <a:off x="1647206" y="7824235"/>
            <a:ext cx="109814" cy="1372676"/>
            <a:chOff x="0" y="0"/>
            <a:chExt cx="146418" cy="1830235"/>
          </a:xfrm>
        </p:grpSpPr>
        <p:sp>
          <p:nvSpPr>
            <p:cNvPr id="1048657" name="Freeform 26"/>
            <p:cNvSpPr/>
            <p:nvPr/>
          </p:nvSpPr>
          <p:spPr>
            <a:xfrm rot="0" flipH="0" flipV="0">
              <a:off x="0" y="0"/>
              <a:ext cx="146431" cy="1830197"/>
            </a:xfrm>
            <a:custGeom>
              <a:avLst/>
              <a:ahLst/>
              <a:rect l="l" t="t" r="r" b="b"/>
              <a:pathLst>
                <a:path w="146431" h="1830197">
                  <a:moveTo>
                    <a:pt x="0" y="0"/>
                  </a:moveTo>
                  <a:lnTo>
                    <a:pt x="146431" y="0"/>
                  </a:lnTo>
                  <a:lnTo>
                    <a:pt x="146431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58" name="TextBox 27"/>
          <p:cNvSpPr txBox="1"/>
          <p:nvPr/>
        </p:nvSpPr>
        <p:spPr>
          <a:xfrm rot="0">
            <a:off x="2081813" y="8032432"/>
            <a:ext cx="14298816" cy="34315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concept</a:t>
            </a:r>
          </a:p>
        </p:txBody>
      </p:sp>
      <p:sp>
        <p:nvSpPr>
          <p:cNvPr id="1048659" name="TextBox 28"/>
          <p:cNvSpPr txBox="1"/>
          <p:nvPr/>
        </p:nvSpPr>
        <p:spPr>
          <a:xfrm rot="0">
            <a:off x="2081813" y="8682914"/>
            <a:ext cx="14298816" cy="26301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assists with drafting; users should review generated content and seek qualified legal advice when appropriate.</a:t>
            </a:r>
          </a:p>
        </p:txBody>
      </p:sp>
      <p:sp>
        <p:nvSpPr>
          <p:cNvPr id="1048660" name="TextBox 29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extBox 2"/>
          <p:cNvSpPr txBox="1"/>
          <p:nvPr/>
        </p:nvSpPr>
        <p:spPr>
          <a:xfrm rot="0">
            <a:off x="846411" y="344348"/>
            <a:ext cx="12033904" cy="64046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Working Process</a:t>
            </a:r>
          </a:p>
        </p:txBody>
      </p:sp>
      <p:sp>
        <p:nvSpPr>
          <p:cNvPr id="1048662" name="TextBox 3"/>
          <p:cNvSpPr txBox="1"/>
          <p:nvPr/>
        </p:nvSpPr>
        <p:spPr>
          <a:xfrm rot="0">
            <a:off x="887587" y="1188120"/>
            <a:ext cx="13269306" cy="27444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From user information to a document draft</a:t>
            </a:r>
          </a:p>
        </p:txBody>
      </p:sp>
      <p:grpSp>
        <p:nvGrpSpPr>
          <p:cNvPr id="60" name="Group 4"/>
          <p:cNvGrpSpPr/>
          <p:nvPr/>
        </p:nvGrpSpPr>
        <p:grpSpPr>
          <a:xfrm rot="0">
            <a:off x="610552" y="3218631"/>
            <a:ext cx="2759640" cy="1592875"/>
            <a:chOff x="0" y="0"/>
            <a:chExt cx="3679520" cy="2123834"/>
          </a:xfrm>
        </p:grpSpPr>
        <p:sp>
          <p:nvSpPr>
            <p:cNvPr id="1048663" name="Freeform 5"/>
            <p:cNvSpPr/>
            <p:nvPr/>
          </p:nvSpPr>
          <p:spPr>
            <a:xfrm rot="0" flipH="0" flipV="0">
              <a:off x="0" y="0"/>
              <a:ext cx="3679444" cy="2123821"/>
            </a:xfrm>
            <a:custGeom>
              <a:avLst/>
              <a:ahLst/>
              <a:rect l="l" t="t" r="r" b="b"/>
              <a:pathLst>
                <a:path w="3679444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64" name="TextBox 6"/>
          <p:cNvSpPr txBox="1"/>
          <p:nvPr/>
        </p:nvSpPr>
        <p:spPr>
          <a:xfrm rot="0">
            <a:off x="818960" y="3333693"/>
            <a:ext cx="2342836" cy="5946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Enter details</a:t>
            </a:r>
          </a:p>
        </p:txBody>
      </p:sp>
      <p:sp>
        <p:nvSpPr>
          <p:cNvPr id="1048665" name="AutoShape 7"/>
          <p:cNvSpPr/>
          <p:nvPr/>
        </p:nvSpPr>
        <p:spPr>
          <a:xfrm rot="165120">
            <a:off x="3343523" y="3998681"/>
            <a:ext cx="79401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1" name="Group 8"/>
          <p:cNvGrpSpPr/>
          <p:nvPr/>
        </p:nvGrpSpPr>
        <p:grpSpPr>
          <a:xfrm rot="0">
            <a:off x="4110866" y="3218631"/>
            <a:ext cx="2759640" cy="1592875"/>
            <a:chOff x="0" y="0"/>
            <a:chExt cx="3679520" cy="2123834"/>
          </a:xfrm>
        </p:grpSpPr>
        <p:sp>
          <p:nvSpPr>
            <p:cNvPr id="1048666" name="Freeform 9"/>
            <p:cNvSpPr/>
            <p:nvPr/>
          </p:nvSpPr>
          <p:spPr>
            <a:xfrm rot="0" flipH="0" flipV="0">
              <a:off x="0" y="0"/>
              <a:ext cx="3679444" cy="2123821"/>
            </a:xfrm>
            <a:custGeom>
              <a:avLst/>
              <a:ahLst/>
              <a:rect l="l" t="t" r="r" b="b"/>
              <a:pathLst>
                <a:path w="3679444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67" name="TextBox 10"/>
          <p:cNvSpPr txBox="1"/>
          <p:nvPr/>
        </p:nvSpPr>
        <p:spPr>
          <a:xfrm rot="0">
            <a:off x="4319273" y="3333693"/>
            <a:ext cx="2342836" cy="5946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Analyze input</a:t>
            </a:r>
          </a:p>
        </p:txBody>
      </p:sp>
      <p:sp>
        <p:nvSpPr>
          <p:cNvPr id="1048668" name="AutoShape 11"/>
          <p:cNvSpPr/>
          <p:nvPr/>
        </p:nvSpPr>
        <p:spPr>
          <a:xfrm rot="165120">
            <a:off x="6843836" y="3998681"/>
            <a:ext cx="79401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2" name="Group 12"/>
          <p:cNvGrpSpPr/>
          <p:nvPr/>
        </p:nvGrpSpPr>
        <p:grpSpPr>
          <a:xfrm rot="0">
            <a:off x="7611180" y="3218631"/>
            <a:ext cx="2759640" cy="1592875"/>
            <a:chOff x="0" y="0"/>
            <a:chExt cx="3679520" cy="2123834"/>
          </a:xfrm>
        </p:grpSpPr>
        <p:sp>
          <p:nvSpPr>
            <p:cNvPr id="1048669" name="Freeform 13"/>
            <p:cNvSpPr/>
            <p:nvPr/>
          </p:nvSpPr>
          <p:spPr>
            <a:xfrm rot="0" flipH="0" flipV="0">
              <a:off x="0" y="0"/>
              <a:ext cx="3679444" cy="2123821"/>
            </a:xfrm>
            <a:custGeom>
              <a:avLst/>
              <a:ahLst/>
              <a:rect l="l" t="t" r="r" b="b"/>
              <a:pathLst>
                <a:path w="3679444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70" name="TextBox 14"/>
          <p:cNvSpPr txBox="1"/>
          <p:nvPr/>
        </p:nvSpPr>
        <p:spPr>
          <a:xfrm rot="0">
            <a:off x="7819587" y="3333693"/>
            <a:ext cx="2342836" cy="5946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Select structure</a:t>
            </a:r>
          </a:p>
        </p:txBody>
      </p:sp>
      <p:sp>
        <p:nvSpPr>
          <p:cNvPr id="1048671" name="AutoShape 15"/>
          <p:cNvSpPr/>
          <p:nvPr/>
        </p:nvSpPr>
        <p:spPr>
          <a:xfrm rot="165120">
            <a:off x="10344150" y="3998681"/>
            <a:ext cx="79401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3" name="Group 16"/>
          <p:cNvGrpSpPr/>
          <p:nvPr/>
        </p:nvGrpSpPr>
        <p:grpSpPr>
          <a:xfrm rot="0">
            <a:off x="11111494" y="3218631"/>
            <a:ext cx="2759640" cy="1592875"/>
            <a:chOff x="0" y="0"/>
            <a:chExt cx="3679520" cy="2123834"/>
          </a:xfrm>
        </p:grpSpPr>
        <p:sp>
          <p:nvSpPr>
            <p:cNvPr id="1048672" name="Freeform 17"/>
            <p:cNvSpPr/>
            <p:nvPr/>
          </p:nvSpPr>
          <p:spPr>
            <a:xfrm rot="0" flipH="0" flipV="0">
              <a:off x="0" y="0"/>
              <a:ext cx="3679444" cy="2123821"/>
            </a:xfrm>
            <a:custGeom>
              <a:avLst/>
              <a:ahLst/>
              <a:rect l="l" t="t" r="r" b="b"/>
              <a:pathLst>
                <a:path w="3679444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73" name="TextBox 18"/>
          <p:cNvSpPr txBox="1"/>
          <p:nvPr/>
        </p:nvSpPr>
        <p:spPr>
          <a:xfrm rot="0">
            <a:off x="11319901" y="3333693"/>
            <a:ext cx="2342836" cy="5946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Generate draft</a:t>
            </a:r>
          </a:p>
        </p:txBody>
      </p:sp>
      <p:sp>
        <p:nvSpPr>
          <p:cNvPr id="1048674" name="AutoShape 19"/>
          <p:cNvSpPr/>
          <p:nvPr/>
        </p:nvSpPr>
        <p:spPr>
          <a:xfrm rot="165120">
            <a:off x="13844464" y="3998681"/>
            <a:ext cx="794014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4" name="Group 20"/>
          <p:cNvGrpSpPr/>
          <p:nvPr/>
        </p:nvGrpSpPr>
        <p:grpSpPr>
          <a:xfrm rot="0">
            <a:off x="14611807" y="3218631"/>
            <a:ext cx="2759640" cy="1592875"/>
            <a:chOff x="0" y="0"/>
            <a:chExt cx="3679520" cy="2123834"/>
          </a:xfrm>
        </p:grpSpPr>
        <p:sp>
          <p:nvSpPr>
            <p:cNvPr id="1048675" name="Freeform 21"/>
            <p:cNvSpPr/>
            <p:nvPr/>
          </p:nvSpPr>
          <p:spPr>
            <a:xfrm rot="0" flipH="0" flipV="0">
              <a:off x="0" y="0"/>
              <a:ext cx="3679444" cy="2123821"/>
            </a:xfrm>
            <a:custGeom>
              <a:avLst/>
              <a:ahLst/>
              <a:rect l="l" t="t" r="r" b="b"/>
              <a:pathLst>
                <a:path w="3679444" h="212382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676" name="TextBox 22"/>
          <p:cNvSpPr txBox="1"/>
          <p:nvPr/>
        </p:nvSpPr>
        <p:spPr>
          <a:xfrm rot="0">
            <a:off x="14820214" y="3333693"/>
            <a:ext cx="2342836" cy="594615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Review &amp; export</a:t>
            </a:r>
          </a:p>
        </p:txBody>
      </p:sp>
      <p:grpSp>
        <p:nvGrpSpPr>
          <p:cNvPr id="65" name="Group 23"/>
          <p:cNvGrpSpPr/>
          <p:nvPr/>
        </p:nvGrpSpPr>
        <p:grpSpPr>
          <a:xfrm rot="0">
            <a:off x="2875464" y="6238513"/>
            <a:ext cx="12642885" cy="1730140"/>
            <a:chOff x="0" y="0"/>
            <a:chExt cx="16857180" cy="2306853"/>
          </a:xfrm>
        </p:grpSpPr>
        <p:sp>
          <p:nvSpPr>
            <p:cNvPr id="1048677" name="Freeform 24"/>
            <p:cNvSpPr/>
            <p:nvPr/>
          </p:nvSpPr>
          <p:spPr>
            <a:xfrm rot="0" flipH="0" flipV="0">
              <a:off x="0" y="0"/>
              <a:ext cx="16857092" cy="2306828"/>
            </a:xfrm>
            <a:custGeom>
              <a:avLst/>
              <a:ahLst/>
              <a:rect l="l" t="t" r="r" b="b"/>
              <a:pathLst>
                <a:path w="16857092" h="230682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6472663" y="0"/>
                  </a:lnTo>
                  <a:cubicBezTo>
                    <a:pt x="16685006" y="0"/>
                    <a:pt x="16857092" y="172085"/>
                    <a:pt x="16857092" y="384429"/>
                  </a:cubicBezTo>
                  <a:lnTo>
                    <a:pt x="16857092" y="1922399"/>
                  </a:lnTo>
                  <a:cubicBezTo>
                    <a:pt x="16857092" y="2134743"/>
                    <a:pt x="16685006" y="2306828"/>
                    <a:pt x="16472663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66" name="Group 25"/>
          <p:cNvGrpSpPr/>
          <p:nvPr/>
        </p:nvGrpSpPr>
        <p:grpSpPr>
          <a:xfrm rot="0">
            <a:off x="2882608" y="6245657"/>
            <a:ext cx="109814" cy="1715843"/>
            <a:chOff x="0" y="0"/>
            <a:chExt cx="146418" cy="2287791"/>
          </a:xfrm>
        </p:grpSpPr>
        <p:sp>
          <p:nvSpPr>
            <p:cNvPr id="1048678" name="Freeform 26"/>
            <p:cNvSpPr/>
            <p:nvPr/>
          </p:nvSpPr>
          <p:spPr>
            <a:xfrm rot="0" flipH="0" flipV="0">
              <a:off x="0" y="0"/>
              <a:ext cx="146431" cy="2287778"/>
            </a:xfrm>
            <a:custGeom>
              <a:avLst/>
              <a:ahLst/>
              <a:rect l="l" t="t" r="r" b="b"/>
              <a:pathLst>
                <a:path w="146431" h="2287778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79" name="TextBox 27"/>
          <p:cNvSpPr txBox="1"/>
          <p:nvPr/>
        </p:nvSpPr>
        <p:spPr>
          <a:xfrm rot="0">
            <a:off x="3317224" y="6453854"/>
            <a:ext cx="11828002" cy="343155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</a:t>
            </a:r>
          </a:p>
        </p:txBody>
      </p:sp>
      <p:sp>
        <p:nvSpPr>
          <p:cNvPr id="1048680" name="TextBox 28"/>
          <p:cNvSpPr txBox="1"/>
          <p:nvPr/>
        </p:nvSpPr>
        <p:spPr>
          <a:xfrm rot="0">
            <a:off x="3317224" y="7104336"/>
            <a:ext cx="11828002" cy="26301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A structured, editable legal document draft based on the information supplied by the user.</a:t>
            </a:r>
          </a:p>
        </p:txBody>
      </p:sp>
      <p:sp>
        <p:nvSpPr>
          <p:cNvPr id="1048681" name="TextBox 29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extBox 2"/>
          <p:cNvSpPr txBox="1"/>
          <p:nvPr/>
        </p:nvSpPr>
        <p:spPr>
          <a:xfrm rot="0">
            <a:off x="846411" y="344348"/>
            <a:ext cx="12033904" cy="74925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Key Features</a:t>
            </a:r>
          </a:p>
        </p:txBody>
      </p:sp>
      <p:sp>
        <p:nvSpPr>
          <p:cNvPr id="1048683" name="TextBox 3"/>
          <p:cNvSpPr txBox="1"/>
          <p:nvPr/>
        </p:nvSpPr>
        <p:spPr>
          <a:xfrm rot="0">
            <a:off x="887587" y="1188120"/>
            <a:ext cx="13269306" cy="495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Main capabilities of LegalEase</a:t>
            </a:r>
          </a:p>
        </p:txBody>
      </p:sp>
      <p:grpSp>
        <p:nvGrpSpPr>
          <p:cNvPr id="68" name="Group 4"/>
          <p:cNvGrpSpPr/>
          <p:nvPr/>
        </p:nvGrpSpPr>
        <p:grpSpPr>
          <a:xfrm rot="0">
            <a:off x="885092" y="1983229"/>
            <a:ext cx="5161817" cy="2485111"/>
            <a:chOff x="0" y="0"/>
            <a:chExt cx="6882422" cy="3313481"/>
          </a:xfrm>
        </p:grpSpPr>
        <p:sp>
          <p:nvSpPr>
            <p:cNvPr id="1048684" name="Freeform 5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69" name="Group 6"/>
          <p:cNvGrpSpPr/>
          <p:nvPr/>
        </p:nvGrpSpPr>
        <p:grpSpPr>
          <a:xfrm rot="0">
            <a:off x="892235" y="1990373"/>
            <a:ext cx="109814" cy="2470814"/>
            <a:chOff x="0" y="0"/>
            <a:chExt cx="146418" cy="3294418"/>
          </a:xfrm>
        </p:grpSpPr>
        <p:sp>
          <p:nvSpPr>
            <p:cNvPr id="1048685" name="Freeform 7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86" name="TextBox 8"/>
          <p:cNvSpPr txBox="1"/>
          <p:nvPr/>
        </p:nvSpPr>
        <p:spPr>
          <a:xfrm rot="0">
            <a:off x="1326842" y="2198570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document generation</a:t>
            </a:r>
          </a:p>
        </p:txBody>
      </p:sp>
      <p:sp>
        <p:nvSpPr>
          <p:cNvPr id="1048687" name="TextBox 9"/>
          <p:cNvSpPr txBox="1"/>
          <p:nvPr/>
        </p:nvSpPr>
        <p:spPr>
          <a:xfrm rot="0">
            <a:off x="1326842" y="284905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Creates a draft from user inputs.</a:t>
            </a:r>
          </a:p>
        </p:txBody>
      </p:sp>
      <p:grpSp>
        <p:nvGrpSpPr>
          <p:cNvPr id="70" name="Group 10"/>
          <p:cNvGrpSpPr/>
          <p:nvPr/>
        </p:nvGrpSpPr>
        <p:grpSpPr>
          <a:xfrm rot="0">
            <a:off x="6650307" y="1983229"/>
            <a:ext cx="5161817" cy="2485111"/>
            <a:chOff x="0" y="0"/>
            <a:chExt cx="6882422" cy="3313481"/>
          </a:xfrm>
        </p:grpSpPr>
        <p:sp>
          <p:nvSpPr>
            <p:cNvPr id="1048688" name="Freeform 11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1" name="Group 12"/>
          <p:cNvGrpSpPr/>
          <p:nvPr/>
        </p:nvGrpSpPr>
        <p:grpSpPr>
          <a:xfrm rot="0">
            <a:off x="6657461" y="1990373"/>
            <a:ext cx="109814" cy="2470814"/>
            <a:chOff x="0" y="0"/>
            <a:chExt cx="146418" cy="3294418"/>
          </a:xfrm>
        </p:grpSpPr>
        <p:sp>
          <p:nvSpPr>
            <p:cNvPr id="1048689" name="Freeform 13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id="1048690" name="TextBox 14"/>
          <p:cNvSpPr txBox="1"/>
          <p:nvPr/>
        </p:nvSpPr>
        <p:spPr>
          <a:xfrm rot="0">
            <a:off x="7092067" y="2198570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Templates</a:t>
            </a:r>
          </a:p>
        </p:txBody>
      </p:sp>
      <p:sp>
        <p:nvSpPr>
          <p:cNvPr id="1048691" name="TextBox 15"/>
          <p:cNvSpPr txBox="1"/>
          <p:nvPr/>
        </p:nvSpPr>
        <p:spPr>
          <a:xfrm rot="0">
            <a:off x="7092067" y="284905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different document types.</a:t>
            </a:r>
          </a:p>
        </p:txBody>
      </p:sp>
      <p:grpSp>
        <p:nvGrpSpPr>
          <p:cNvPr id="72" name="Group 16"/>
          <p:cNvGrpSpPr/>
          <p:nvPr/>
        </p:nvGrpSpPr>
        <p:grpSpPr>
          <a:xfrm rot="0">
            <a:off x="12415533" y="1983229"/>
            <a:ext cx="5161817" cy="2485111"/>
            <a:chOff x="0" y="0"/>
            <a:chExt cx="6882422" cy="3313481"/>
          </a:xfrm>
        </p:grpSpPr>
        <p:sp>
          <p:nvSpPr>
            <p:cNvPr id="1048692" name="Freeform 17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3" name="Group 18"/>
          <p:cNvGrpSpPr/>
          <p:nvPr/>
        </p:nvGrpSpPr>
        <p:grpSpPr>
          <a:xfrm rot="0">
            <a:off x="12422686" y="1990373"/>
            <a:ext cx="109814" cy="2470814"/>
            <a:chOff x="0" y="0"/>
            <a:chExt cx="146418" cy="3294418"/>
          </a:xfrm>
        </p:grpSpPr>
        <p:sp>
          <p:nvSpPr>
            <p:cNvPr id="1048693" name="Freeform 19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id="1048694" name="TextBox 20"/>
          <p:cNvSpPr txBox="1"/>
          <p:nvPr/>
        </p:nvSpPr>
        <p:spPr>
          <a:xfrm rot="0">
            <a:off x="12857293" y="2198570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Easy editing</a:t>
            </a:r>
          </a:p>
        </p:txBody>
      </p:sp>
      <p:sp>
        <p:nvSpPr>
          <p:cNvPr id="1048695" name="TextBox 21"/>
          <p:cNvSpPr txBox="1"/>
          <p:nvPr/>
        </p:nvSpPr>
        <p:spPr>
          <a:xfrm rot="0">
            <a:off x="12857293" y="284905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Allows users to review and modify text.</a:t>
            </a:r>
          </a:p>
        </p:txBody>
      </p:sp>
      <p:grpSp>
        <p:nvGrpSpPr>
          <p:cNvPr id="74" name="Group 22"/>
          <p:cNvGrpSpPr/>
          <p:nvPr/>
        </p:nvGrpSpPr>
        <p:grpSpPr>
          <a:xfrm rot="0">
            <a:off x="885092" y="5071739"/>
            <a:ext cx="5161817" cy="2485111"/>
            <a:chOff x="0" y="0"/>
            <a:chExt cx="6882422" cy="3313481"/>
          </a:xfrm>
        </p:grpSpPr>
        <p:sp>
          <p:nvSpPr>
            <p:cNvPr id="1048696" name="Freeform 23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5" name="Group 24"/>
          <p:cNvGrpSpPr/>
          <p:nvPr/>
        </p:nvGrpSpPr>
        <p:grpSpPr>
          <a:xfrm rot="0">
            <a:off x="892235" y="5078892"/>
            <a:ext cx="109814" cy="2470814"/>
            <a:chOff x="0" y="0"/>
            <a:chExt cx="146418" cy="3294418"/>
          </a:xfrm>
        </p:grpSpPr>
        <p:sp>
          <p:nvSpPr>
            <p:cNvPr id="1048697" name="Freeform 25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698" name="TextBox 26"/>
          <p:cNvSpPr txBox="1"/>
          <p:nvPr/>
        </p:nvSpPr>
        <p:spPr>
          <a:xfrm rot="0">
            <a:off x="1326842" y="5287089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Export</a:t>
            </a:r>
          </a:p>
        </p:txBody>
      </p:sp>
      <p:sp>
        <p:nvSpPr>
          <p:cNvPr id="1048699" name="TextBox 27"/>
          <p:cNvSpPr txBox="1"/>
          <p:nvPr/>
        </p:nvSpPr>
        <p:spPr>
          <a:xfrm rot="0">
            <a:off x="1326842" y="593756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Can produce a printable/downloadable document.</a:t>
            </a:r>
          </a:p>
        </p:txBody>
      </p:sp>
      <p:grpSp>
        <p:nvGrpSpPr>
          <p:cNvPr id="76" name="Group 28"/>
          <p:cNvGrpSpPr/>
          <p:nvPr/>
        </p:nvGrpSpPr>
        <p:grpSpPr>
          <a:xfrm rot="0">
            <a:off x="6650307" y="5071739"/>
            <a:ext cx="5161817" cy="2485111"/>
            <a:chOff x="0" y="0"/>
            <a:chExt cx="6882422" cy="3313481"/>
          </a:xfrm>
        </p:grpSpPr>
        <p:sp>
          <p:nvSpPr>
            <p:cNvPr id="1048700" name="Freeform 29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7" name="Group 30"/>
          <p:cNvGrpSpPr/>
          <p:nvPr/>
        </p:nvGrpSpPr>
        <p:grpSpPr>
          <a:xfrm rot="0">
            <a:off x="6657461" y="5078892"/>
            <a:ext cx="109814" cy="2470814"/>
            <a:chOff x="0" y="0"/>
            <a:chExt cx="146418" cy="3294418"/>
          </a:xfrm>
        </p:grpSpPr>
        <p:sp>
          <p:nvSpPr>
            <p:cNvPr id="1048701" name="Freeform 31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id="1048702" name="TextBox 32"/>
          <p:cNvSpPr txBox="1"/>
          <p:nvPr/>
        </p:nvSpPr>
        <p:spPr>
          <a:xfrm rot="0">
            <a:off x="7092067" y="5287089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Secure design</a:t>
            </a:r>
          </a:p>
        </p:txBody>
      </p:sp>
      <p:sp>
        <p:nvSpPr>
          <p:cNvPr id="1048703" name="TextBox 33"/>
          <p:cNvSpPr txBox="1"/>
          <p:nvPr/>
        </p:nvSpPr>
        <p:spPr>
          <a:xfrm rot="0">
            <a:off x="7092067" y="593756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Authentication and data protection can be included.</a:t>
            </a:r>
          </a:p>
        </p:txBody>
      </p:sp>
      <p:grpSp>
        <p:nvGrpSpPr>
          <p:cNvPr id="78" name="Group 34"/>
          <p:cNvGrpSpPr/>
          <p:nvPr/>
        </p:nvGrpSpPr>
        <p:grpSpPr>
          <a:xfrm rot="0">
            <a:off x="12415533" y="5071739"/>
            <a:ext cx="5161817" cy="2485111"/>
            <a:chOff x="0" y="0"/>
            <a:chExt cx="6882422" cy="3313481"/>
          </a:xfrm>
        </p:grpSpPr>
        <p:sp>
          <p:nvSpPr>
            <p:cNvPr id="1048704" name="Freeform 35"/>
            <p:cNvSpPr/>
            <p:nvPr/>
          </p:nvSpPr>
          <p:spPr>
            <a:xfrm rot="0" flipH="0" flipV="0">
              <a:off x="0" y="0"/>
              <a:ext cx="6882384" cy="3313430"/>
            </a:xfrm>
            <a:custGeom>
              <a:avLst/>
              <a:ahLst/>
              <a:rect l="l" t="t" r="r" b="b"/>
              <a:pathLst>
                <a:path w="6882384" h="331343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9" name="Group 36"/>
          <p:cNvGrpSpPr/>
          <p:nvPr/>
        </p:nvGrpSpPr>
        <p:grpSpPr>
          <a:xfrm rot="0">
            <a:off x="12422686" y="5078892"/>
            <a:ext cx="109814" cy="2470814"/>
            <a:chOff x="0" y="0"/>
            <a:chExt cx="146418" cy="3294418"/>
          </a:xfrm>
        </p:grpSpPr>
        <p:sp>
          <p:nvSpPr>
            <p:cNvPr id="1048705" name="Freeform 37"/>
            <p:cNvSpPr/>
            <p:nvPr/>
          </p:nvSpPr>
          <p:spPr>
            <a:xfrm rot="0" flipH="0" flipV="0">
              <a:off x="0" y="0"/>
              <a:ext cx="146431" cy="3294380"/>
            </a:xfrm>
            <a:custGeom>
              <a:avLst/>
              <a:ahLst/>
              <a:rect l="l" t="t" r="r" b="b"/>
              <a:pathLst>
                <a:path w="146431" h="3294380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id="1048706" name="TextBox 38"/>
          <p:cNvSpPr txBox="1"/>
          <p:nvPr/>
        </p:nvSpPr>
        <p:spPr>
          <a:xfrm rot="0">
            <a:off x="12857293" y="5287089"/>
            <a:ext cx="4346943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Simple interface</a:t>
            </a:r>
          </a:p>
        </p:txBody>
      </p:sp>
      <p:sp>
        <p:nvSpPr>
          <p:cNvPr id="1048707" name="TextBox 39"/>
          <p:cNvSpPr txBox="1"/>
          <p:nvPr/>
        </p:nvSpPr>
        <p:spPr>
          <a:xfrm rot="0">
            <a:off x="12857293" y="5937561"/>
            <a:ext cx="4346943" cy="1387964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for users without technical expertise.</a:t>
            </a:r>
          </a:p>
        </p:txBody>
      </p:sp>
      <p:sp>
        <p:nvSpPr>
          <p:cNvPr id="1048708" name="TextBox 40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extBox 2"/>
          <p:cNvSpPr txBox="1"/>
          <p:nvPr/>
        </p:nvSpPr>
        <p:spPr>
          <a:xfrm rot="0">
            <a:off x="846411" y="344348"/>
            <a:ext cx="12033904" cy="74925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Technology Stack</a:t>
            </a:r>
          </a:p>
        </p:txBody>
      </p:sp>
      <p:sp>
        <p:nvSpPr>
          <p:cNvPr id="1048710" name="TextBox 3"/>
          <p:cNvSpPr txBox="1"/>
          <p:nvPr/>
        </p:nvSpPr>
        <p:spPr>
          <a:xfrm rot="0">
            <a:off x="887587" y="1188120"/>
            <a:ext cx="13269306" cy="495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Possible implementation technologies</a:t>
            </a:r>
          </a:p>
        </p:txBody>
      </p:sp>
      <p:grpSp>
        <p:nvGrpSpPr>
          <p:cNvPr id="81" name="Group 4"/>
          <p:cNvGrpSpPr/>
          <p:nvPr/>
        </p:nvGrpSpPr>
        <p:grpSpPr>
          <a:xfrm rot="0">
            <a:off x="1365523" y="1845955"/>
            <a:ext cx="3034179" cy="769268"/>
            <a:chOff x="0" y="0"/>
            <a:chExt cx="4045572" cy="1025690"/>
          </a:xfrm>
        </p:grpSpPr>
        <p:sp>
          <p:nvSpPr>
            <p:cNvPr id="1048711" name="Freeform 5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12" name="TextBox 6"/>
          <p:cNvSpPr txBox="1"/>
          <p:nvPr/>
        </p:nvSpPr>
        <p:spPr>
          <a:xfrm rot="0">
            <a:off x="1573930" y="1970542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</a:t>
            </a:r>
          </a:p>
        </p:txBody>
      </p:sp>
      <p:grpSp>
        <p:nvGrpSpPr>
          <p:cNvPr id="82" name="Group 7"/>
          <p:cNvGrpSpPr/>
          <p:nvPr/>
        </p:nvGrpSpPr>
        <p:grpSpPr>
          <a:xfrm rot="0">
            <a:off x="4728572" y="1845955"/>
            <a:ext cx="10858414" cy="769268"/>
            <a:chOff x="0" y="0"/>
            <a:chExt cx="14477886" cy="1025690"/>
          </a:xfrm>
        </p:grpSpPr>
        <p:sp>
          <p:nvSpPr>
            <p:cNvPr id="1048713" name="Freeform 8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14" name="TextBox 9"/>
          <p:cNvSpPr txBox="1"/>
          <p:nvPr/>
        </p:nvSpPr>
        <p:spPr>
          <a:xfrm rot="0">
            <a:off x="4936969" y="1970542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HTML • CSS • JavaScript / React</a:t>
            </a:r>
          </a:p>
        </p:txBody>
      </p:sp>
      <p:sp>
        <p:nvSpPr>
          <p:cNvPr id="1048715" name="AutoShape 10"/>
          <p:cNvSpPr/>
          <p:nvPr/>
        </p:nvSpPr>
        <p:spPr>
          <a:xfrm rot="5080260">
            <a:off x="2677354" y="2783862"/>
            <a:ext cx="410528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3" name="Group 11"/>
          <p:cNvGrpSpPr/>
          <p:nvPr/>
        </p:nvGrpSpPr>
        <p:grpSpPr>
          <a:xfrm rot="0">
            <a:off x="1365523" y="2971552"/>
            <a:ext cx="3034179" cy="769268"/>
            <a:chOff x="0" y="0"/>
            <a:chExt cx="4045572" cy="1025690"/>
          </a:xfrm>
        </p:grpSpPr>
        <p:sp>
          <p:nvSpPr>
            <p:cNvPr id="1048716" name="Freeform 12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17" name="TextBox 13"/>
          <p:cNvSpPr txBox="1"/>
          <p:nvPr/>
        </p:nvSpPr>
        <p:spPr>
          <a:xfrm rot="0">
            <a:off x="1573930" y="3096130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</a:t>
            </a:r>
          </a:p>
        </p:txBody>
      </p:sp>
      <p:grpSp>
        <p:nvGrpSpPr>
          <p:cNvPr id="84" name="Group 14"/>
          <p:cNvGrpSpPr/>
          <p:nvPr/>
        </p:nvGrpSpPr>
        <p:grpSpPr>
          <a:xfrm rot="0">
            <a:off x="4728572" y="2971552"/>
            <a:ext cx="10858414" cy="769268"/>
            <a:chOff x="0" y="0"/>
            <a:chExt cx="14477886" cy="1025690"/>
          </a:xfrm>
        </p:grpSpPr>
        <p:sp>
          <p:nvSpPr>
            <p:cNvPr id="1048718" name="Freeform 15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19" name="TextBox 16"/>
          <p:cNvSpPr txBox="1"/>
          <p:nvPr/>
        </p:nvSpPr>
        <p:spPr>
          <a:xfrm rot="0">
            <a:off x="4936969" y="3096130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/ Node.js</a:t>
            </a:r>
          </a:p>
        </p:txBody>
      </p:sp>
      <p:sp>
        <p:nvSpPr>
          <p:cNvPr id="1048720" name="AutoShape 17"/>
          <p:cNvSpPr/>
          <p:nvPr/>
        </p:nvSpPr>
        <p:spPr>
          <a:xfrm rot="5080260">
            <a:off x="2677354" y="3909451"/>
            <a:ext cx="410528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5" name="Group 18"/>
          <p:cNvGrpSpPr/>
          <p:nvPr/>
        </p:nvGrpSpPr>
        <p:grpSpPr>
          <a:xfrm rot="0">
            <a:off x="1365523" y="4097141"/>
            <a:ext cx="3034179" cy="769268"/>
            <a:chOff x="0" y="0"/>
            <a:chExt cx="4045572" cy="1025690"/>
          </a:xfrm>
        </p:grpSpPr>
        <p:sp>
          <p:nvSpPr>
            <p:cNvPr id="1048721" name="Freeform 19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22" name="TextBox 20"/>
          <p:cNvSpPr txBox="1"/>
          <p:nvPr/>
        </p:nvSpPr>
        <p:spPr>
          <a:xfrm rot="0">
            <a:off x="1573930" y="4221728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Layer</a:t>
            </a:r>
          </a:p>
        </p:txBody>
      </p:sp>
      <p:grpSp>
        <p:nvGrpSpPr>
          <p:cNvPr id="86" name="Group 21"/>
          <p:cNvGrpSpPr/>
          <p:nvPr/>
        </p:nvGrpSpPr>
        <p:grpSpPr>
          <a:xfrm rot="0">
            <a:off x="4728572" y="4097141"/>
            <a:ext cx="10858414" cy="769268"/>
            <a:chOff x="0" y="0"/>
            <a:chExt cx="14477886" cy="1025690"/>
          </a:xfrm>
        </p:grpSpPr>
        <p:sp>
          <p:nvSpPr>
            <p:cNvPr id="1048723" name="Freeform 22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24" name="TextBox 23"/>
          <p:cNvSpPr txBox="1"/>
          <p:nvPr/>
        </p:nvSpPr>
        <p:spPr>
          <a:xfrm rot="0">
            <a:off x="4936969" y="4221728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NLP + Large Language Model</a:t>
            </a:r>
          </a:p>
        </p:txBody>
      </p:sp>
      <p:sp>
        <p:nvSpPr>
          <p:cNvPr id="1048725" name="AutoShape 24"/>
          <p:cNvSpPr/>
          <p:nvPr/>
        </p:nvSpPr>
        <p:spPr>
          <a:xfrm rot="5080260">
            <a:off x="2677354" y="5035048"/>
            <a:ext cx="410528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7" name="Group 25"/>
          <p:cNvGrpSpPr/>
          <p:nvPr/>
        </p:nvGrpSpPr>
        <p:grpSpPr>
          <a:xfrm rot="0">
            <a:off x="1365523" y="5222729"/>
            <a:ext cx="3034179" cy="769268"/>
            <a:chOff x="0" y="0"/>
            <a:chExt cx="4045572" cy="1025690"/>
          </a:xfrm>
        </p:grpSpPr>
        <p:sp>
          <p:nvSpPr>
            <p:cNvPr id="1048726" name="Freeform 26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27" name="TextBox 27"/>
          <p:cNvSpPr txBox="1"/>
          <p:nvPr/>
        </p:nvSpPr>
        <p:spPr>
          <a:xfrm rot="0">
            <a:off x="1573930" y="5347316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</a:t>
            </a:r>
          </a:p>
        </p:txBody>
      </p:sp>
      <p:grpSp>
        <p:nvGrpSpPr>
          <p:cNvPr id="88" name="Group 28"/>
          <p:cNvGrpSpPr/>
          <p:nvPr/>
        </p:nvGrpSpPr>
        <p:grpSpPr>
          <a:xfrm rot="0">
            <a:off x="4728572" y="5222729"/>
            <a:ext cx="10858414" cy="769268"/>
            <a:chOff x="0" y="0"/>
            <a:chExt cx="14477886" cy="1025690"/>
          </a:xfrm>
        </p:grpSpPr>
        <p:sp>
          <p:nvSpPr>
            <p:cNvPr id="1048728" name="Freeform 29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29" name="TextBox 30"/>
          <p:cNvSpPr txBox="1"/>
          <p:nvPr/>
        </p:nvSpPr>
        <p:spPr>
          <a:xfrm rot="0">
            <a:off x="4936969" y="5347316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MySQL / MongoDB</a:t>
            </a:r>
          </a:p>
        </p:txBody>
      </p:sp>
      <p:sp>
        <p:nvSpPr>
          <p:cNvPr id="1048730" name="AutoShape 31"/>
          <p:cNvSpPr/>
          <p:nvPr/>
        </p:nvSpPr>
        <p:spPr>
          <a:xfrm rot="5080260">
            <a:off x="2677354" y="6160637"/>
            <a:ext cx="410528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9" name="Group 32"/>
          <p:cNvGrpSpPr/>
          <p:nvPr/>
        </p:nvGrpSpPr>
        <p:grpSpPr>
          <a:xfrm rot="0">
            <a:off x="1365523" y="6348327"/>
            <a:ext cx="3034179" cy="769268"/>
            <a:chOff x="0" y="0"/>
            <a:chExt cx="4045572" cy="1025690"/>
          </a:xfrm>
        </p:grpSpPr>
        <p:sp>
          <p:nvSpPr>
            <p:cNvPr id="1048731" name="Freeform 33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32" name="TextBox 34"/>
          <p:cNvSpPr txBox="1"/>
          <p:nvPr/>
        </p:nvSpPr>
        <p:spPr>
          <a:xfrm rot="0">
            <a:off x="1573930" y="6472904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 Output</a:t>
            </a:r>
          </a:p>
        </p:txBody>
      </p:sp>
      <p:grpSp>
        <p:nvGrpSpPr>
          <p:cNvPr id="90" name="Group 35"/>
          <p:cNvGrpSpPr/>
          <p:nvPr/>
        </p:nvGrpSpPr>
        <p:grpSpPr>
          <a:xfrm rot="0">
            <a:off x="4728572" y="6348327"/>
            <a:ext cx="10858414" cy="769268"/>
            <a:chOff x="0" y="0"/>
            <a:chExt cx="14477886" cy="1025690"/>
          </a:xfrm>
        </p:grpSpPr>
        <p:sp>
          <p:nvSpPr>
            <p:cNvPr id="1048733" name="Freeform 36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34" name="TextBox 37"/>
          <p:cNvSpPr txBox="1"/>
          <p:nvPr/>
        </p:nvSpPr>
        <p:spPr>
          <a:xfrm rot="0">
            <a:off x="4936969" y="6472904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PDF / DOCX generation</a:t>
            </a:r>
          </a:p>
        </p:txBody>
      </p:sp>
      <p:sp>
        <p:nvSpPr>
          <p:cNvPr id="1048735" name="AutoShape 38"/>
          <p:cNvSpPr/>
          <p:nvPr/>
        </p:nvSpPr>
        <p:spPr>
          <a:xfrm rot="5080260">
            <a:off x="2677354" y="7286225"/>
            <a:ext cx="410528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1" name="Group 39"/>
          <p:cNvGrpSpPr/>
          <p:nvPr/>
        </p:nvGrpSpPr>
        <p:grpSpPr>
          <a:xfrm rot="0">
            <a:off x="1365523" y="7473915"/>
            <a:ext cx="3034179" cy="769268"/>
            <a:chOff x="0" y="0"/>
            <a:chExt cx="4045572" cy="1025690"/>
          </a:xfrm>
        </p:grpSpPr>
        <p:sp>
          <p:nvSpPr>
            <p:cNvPr id="1048736" name="Freeform 40"/>
            <p:cNvSpPr/>
            <p:nvPr/>
          </p:nvSpPr>
          <p:spPr>
            <a:xfrm rot="0" flipH="0" flipV="0">
              <a:off x="0" y="0"/>
              <a:ext cx="4045585" cy="1025652"/>
            </a:xfrm>
            <a:custGeom>
              <a:avLst/>
              <a:ahLst/>
              <a:rect l="l" t="t" r="r" b="b"/>
              <a:pathLst>
                <a:path w="4045585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37" name="TextBox 41"/>
          <p:cNvSpPr txBox="1"/>
          <p:nvPr/>
        </p:nvSpPr>
        <p:spPr>
          <a:xfrm rot="0">
            <a:off x="1573930" y="7598493"/>
            <a:ext cx="2617375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</a:t>
            </a:r>
          </a:p>
        </p:txBody>
      </p:sp>
      <p:grpSp>
        <p:nvGrpSpPr>
          <p:cNvPr id="92" name="Group 42"/>
          <p:cNvGrpSpPr/>
          <p:nvPr/>
        </p:nvGrpSpPr>
        <p:grpSpPr>
          <a:xfrm rot="0">
            <a:off x="4728572" y="7473915"/>
            <a:ext cx="10858414" cy="769268"/>
            <a:chOff x="0" y="0"/>
            <a:chExt cx="14477886" cy="1025690"/>
          </a:xfrm>
        </p:grpSpPr>
        <p:sp>
          <p:nvSpPr>
            <p:cNvPr id="1048738" name="Freeform 43"/>
            <p:cNvSpPr/>
            <p:nvPr/>
          </p:nvSpPr>
          <p:spPr>
            <a:xfrm rot="0" flipH="0" flipV="0">
              <a:off x="0" y="0"/>
              <a:ext cx="14477873" cy="1025652"/>
            </a:xfrm>
            <a:custGeom>
              <a:avLst/>
              <a:ahLst/>
              <a:rect l="l" t="t" r="r" b="b"/>
              <a:pathLst>
                <a:path w="14477873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39" name="TextBox 44"/>
          <p:cNvSpPr txBox="1"/>
          <p:nvPr/>
        </p:nvSpPr>
        <p:spPr>
          <a:xfrm rot="0">
            <a:off x="4936969" y="7598493"/>
            <a:ext cx="10441600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Authentication + access control</a:t>
            </a:r>
          </a:p>
        </p:txBody>
      </p:sp>
      <p:sp>
        <p:nvSpPr>
          <p:cNvPr id="1048740" name="TextBox 45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TextBox 2"/>
          <p:cNvSpPr txBox="1"/>
          <p:nvPr/>
        </p:nvSpPr>
        <p:spPr>
          <a:xfrm rot="0">
            <a:off x="846411" y="344348"/>
            <a:ext cx="12033904" cy="74925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Advantages</a:t>
            </a:r>
          </a:p>
        </p:txBody>
      </p:sp>
      <p:sp>
        <p:nvSpPr>
          <p:cNvPr id="1048742" name="TextBox 3"/>
          <p:cNvSpPr txBox="1"/>
          <p:nvPr/>
        </p:nvSpPr>
        <p:spPr>
          <a:xfrm rot="0">
            <a:off x="887587" y="1188120"/>
            <a:ext cx="13269306" cy="495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Potential benefits</a:t>
            </a:r>
          </a:p>
        </p:txBody>
      </p:sp>
      <p:grpSp>
        <p:nvGrpSpPr>
          <p:cNvPr id="94" name="Group 4"/>
          <p:cNvGrpSpPr/>
          <p:nvPr/>
        </p:nvGrpSpPr>
        <p:grpSpPr>
          <a:xfrm rot="0">
            <a:off x="1022356" y="1914592"/>
            <a:ext cx="7632630" cy="1798777"/>
            <a:chOff x="0" y="0"/>
            <a:chExt cx="10176840" cy="2398370"/>
          </a:xfrm>
        </p:grpSpPr>
        <p:sp>
          <p:nvSpPr>
            <p:cNvPr id="1048743" name="Freeform 5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95" name="Group 6"/>
          <p:cNvGrpSpPr/>
          <p:nvPr/>
        </p:nvGrpSpPr>
        <p:grpSpPr>
          <a:xfrm rot="0">
            <a:off x="1029500" y="1921745"/>
            <a:ext cx="109814" cy="1784471"/>
            <a:chOff x="0" y="0"/>
            <a:chExt cx="146418" cy="2379294"/>
          </a:xfrm>
        </p:grpSpPr>
        <p:sp>
          <p:nvSpPr>
            <p:cNvPr id="1048744" name="Freeform 7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745" name="TextBox 8"/>
          <p:cNvSpPr txBox="1"/>
          <p:nvPr/>
        </p:nvSpPr>
        <p:spPr>
          <a:xfrm rot="0">
            <a:off x="1464116" y="2129933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Faster</a:t>
            </a:r>
          </a:p>
        </p:txBody>
      </p:sp>
      <p:sp>
        <p:nvSpPr>
          <p:cNvPr id="1048746" name="TextBox 9"/>
          <p:cNvSpPr txBox="1"/>
          <p:nvPr/>
        </p:nvSpPr>
        <p:spPr>
          <a:xfrm rot="0">
            <a:off x="1464116" y="2780414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repetitive drafting work.</a:t>
            </a:r>
          </a:p>
        </p:txBody>
      </p:sp>
      <p:grpSp>
        <p:nvGrpSpPr>
          <p:cNvPr id="96" name="Group 10"/>
          <p:cNvGrpSpPr/>
          <p:nvPr/>
        </p:nvGrpSpPr>
        <p:grpSpPr>
          <a:xfrm rot="0">
            <a:off x="9464288" y="1914592"/>
            <a:ext cx="7632630" cy="1798777"/>
            <a:chOff x="0" y="0"/>
            <a:chExt cx="10176840" cy="2398370"/>
          </a:xfrm>
        </p:grpSpPr>
        <p:sp>
          <p:nvSpPr>
            <p:cNvPr id="1048747" name="Freeform 11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97" name="Group 12"/>
          <p:cNvGrpSpPr/>
          <p:nvPr/>
        </p:nvGrpSpPr>
        <p:grpSpPr>
          <a:xfrm rot="0">
            <a:off x="9471441" y="1921745"/>
            <a:ext cx="109814" cy="1784471"/>
            <a:chOff x="0" y="0"/>
            <a:chExt cx="146418" cy="2379294"/>
          </a:xfrm>
        </p:grpSpPr>
        <p:sp>
          <p:nvSpPr>
            <p:cNvPr id="1048748" name="Freeform 13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id="1048749" name="TextBox 14"/>
          <p:cNvSpPr txBox="1"/>
          <p:nvPr/>
        </p:nvSpPr>
        <p:spPr>
          <a:xfrm rot="0">
            <a:off x="9906048" y="2129933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Accessible</a:t>
            </a:r>
          </a:p>
        </p:txBody>
      </p:sp>
      <p:sp>
        <p:nvSpPr>
          <p:cNvPr id="1048750" name="TextBox 15"/>
          <p:cNvSpPr txBox="1"/>
          <p:nvPr/>
        </p:nvSpPr>
        <p:spPr>
          <a:xfrm rot="0">
            <a:off x="9906048" y="2780414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Makes basic drafting easier to approach.</a:t>
            </a:r>
          </a:p>
        </p:txBody>
      </p:sp>
      <p:grpSp>
        <p:nvGrpSpPr>
          <p:cNvPr id="98" name="Group 16"/>
          <p:cNvGrpSpPr/>
          <p:nvPr/>
        </p:nvGrpSpPr>
        <p:grpSpPr>
          <a:xfrm rot="0">
            <a:off x="1022356" y="4248131"/>
            <a:ext cx="7632630" cy="1798777"/>
            <a:chOff x="0" y="0"/>
            <a:chExt cx="10176840" cy="2398370"/>
          </a:xfrm>
        </p:grpSpPr>
        <p:sp>
          <p:nvSpPr>
            <p:cNvPr id="1048751" name="Freeform 17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99" name="Group 18"/>
          <p:cNvGrpSpPr/>
          <p:nvPr/>
        </p:nvGrpSpPr>
        <p:grpSpPr>
          <a:xfrm rot="0">
            <a:off x="1029500" y="4255284"/>
            <a:ext cx="109814" cy="1784471"/>
            <a:chOff x="0" y="0"/>
            <a:chExt cx="146418" cy="2379294"/>
          </a:xfrm>
        </p:grpSpPr>
        <p:sp>
          <p:nvSpPr>
            <p:cNvPr id="1048752" name="Freeform 19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id="1048753" name="TextBox 20"/>
          <p:cNvSpPr txBox="1"/>
          <p:nvPr/>
        </p:nvSpPr>
        <p:spPr>
          <a:xfrm rot="0">
            <a:off x="1464116" y="4463482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Consistent</a:t>
            </a:r>
          </a:p>
        </p:txBody>
      </p:sp>
      <p:sp>
        <p:nvSpPr>
          <p:cNvPr id="1048754" name="TextBox 21"/>
          <p:cNvSpPr txBox="1"/>
          <p:nvPr/>
        </p:nvSpPr>
        <p:spPr>
          <a:xfrm rot="0">
            <a:off x="1464116" y="5113963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Uses structured templates.</a:t>
            </a:r>
          </a:p>
        </p:txBody>
      </p:sp>
      <p:grpSp>
        <p:nvGrpSpPr>
          <p:cNvPr id="100" name="Group 22"/>
          <p:cNvGrpSpPr/>
          <p:nvPr/>
        </p:nvGrpSpPr>
        <p:grpSpPr>
          <a:xfrm rot="0">
            <a:off x="9464288" y="4248131"/>
            <a:ext cx="7632630" cy="1798777"/>
            <a:chOff x="0" y="0"/>
            <a:chExt cx="10176840" cy="2398370"/>
          </a:xfrm>
        </p:grpSpPr>
        <p:sp>
          <p:nvSpPr>
            <p:cNvPr id="1048755" name="Freeform 23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01" name="Group 24"/>
          <p:cNvGrpSpPr/>
          <p:nvPr/>
        </p:nvGrpSpPr>
        <p:grpSpPr>
          <a:xfrm rot="0">
            <a:off x="9471441" y="4255284"/>
            <a:ext cx="109814" cy="1784471"/>
            <a:chOff x="0" y="0"/>
            <a:chExt cx="146418" cy="2379294"/>
          </a:xfrm>
        </p:grpSpPr>
        <p:sp>
          <p:nvSpPr>
            <p:cNvPr id="1048756" name="Freeform 25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757" name="TextBox 26"/>
          <p:cNvSpPr txBox="1"/>
          <p:nvPr/>
        </p:nvSpPr>
        <p:spPr>
          <a:xfrm rot="0">
            <a:off x="9906048" y="4463482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Convenient</a:t>
            </a:r>
          </a:p>
        </p:txBody>
      </p:sp>
      <p:sp>
        <p:nvSpPr>
          <p:cNvPr id="1048758" name="TextBox 27"/>
          <p:cNvSpPr txBox="1"/>
          <p:nvPr/>
        </p:nvSpPr>
        <p:spPr>
          <a:xfrm rot="0">
            <a:off x="9906048" y="5113963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editing and export.</a:t>
            </a:r>
          </a:p>
        </p:txBody>
      </p:sp>
      <p:grpSp>
        <p:nvGrpSpPr>
          <p:cNvPr id="102" name="Group 28"/>
          <p:cNvGrpSpPr/>
          <p:nvPr/>
        </p:nvGrpSpPr>
        <p:grpSpPr>
          <a:xfrm rot="0">
            <a:off x="1022356" y="6581680"/>
            <a:ext cx="7632630" cy="1798777"/>
            <a:chOff x="0" y="0"/>
            <a:chExt cx="10176840" cy="2398370"/>
          </a:xfrm>
        </p:grpSpPr>
        <p:sp>
          <p:nvSpPr>
            <p:cNvPr id="1048759" name="Freeform 29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03" name="Group 30"/>
          <p:cNvGrpSpPr/>
          <p:nvPr/>
        </p:nvGrpSpPr>
        <p:grpSpPr>
          <a:xfrm rot="0">
            <a:off x="1029500" y="6588824"/>
            <a:ext cx="109814" cy="1784471"/>
            <a:chOff x="0" y="0"/>
            <a:chExt cx="146418" cy="2379294"/>
          </a:xfrm>
        </p:grpSpPr>
        <p:sp>
          <p:nvSpPr>
            <p:cNvPr id="1048760" name="Freeform 31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id="1048761" name="TextBox 32"/>
          <p:cNvSpPr txBox="1"/>
          <p:nvPr/>
        </p:nvSpPr>
        <p:spPr>
          <a:xfrm rot="0">
            <a:off x="1464116" y="6797021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Scalable</a:t>
            </a:r>
          </a:p>
        </p:txBody>
      </p:sp>
      <p:sp>
        <p:nvSpPr>
          <p:cNvPr id="1048762" name="TextBox 33"/>
          <p:cNvSpPr txBox="1"/>
          <p:nvPr/>
        </p:nvSpPr>
        <p:spPr>
          <a:xfrm rot="0">
            <a:off x="1464116" y="7447502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New templates can be added.</a:t>
            </a:r>
          </a:p>
        </p:txBody>
      </p:sp>
      <p:grpSp>
        <p:nvGrpSpPr>
          <p:cNvPr id="104" name="Group 34"/>
          <p:cNvGrpSpPr/>
          <p:nvPr/>
        </p:nvGrpSpPr>
        <p:grpSpPr>
          <a:xfrm rot="0">
            <a:off x="9464288" y="6581680"/>
            <a:ext cx="7632630" cy="1798777"/>
            <a:chOff x="0" y="0"/>
            <a:chExt cx="10176840" cy="2398370"/>
          </a:xfrm>
        </p:grpSpPr>
        <p:sp>
          <p:nvSpPr>
            <p:cNvPr id="1048763" name="Freeform 35"/>
            <p:cNvSpPr/>
            <p:nvPr/>
          </p:nvSpPr>
          <p:spPr>
            <a:xfrm rot="0" flipH="0" flipV="0">
              <a:off x="0" y="0"/>
              <a:ext cx="10176890" cy="2398522"/>
            </a:xfrm>
            <a:custGeom>
              <a:avLst/>
              <a:ahLst/>
              <a:rect l="l" t="t" r="r" b="b"/>
              <a:pathLst>
                <a:path w="10176890" h="2398522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05" name="Group 36"/>
          <p:cNvGrpSpPr/>
          <p:nvPr/>
        </p:nvGrpSpPr>
        <p:grpSpPr>
          <a:xfrm rot="0">
            <a:off x="9471441" y="6588824"/>
            <a:ext cx="109814" cy="1784471"/>
            <a:chOff x="0" y="0"/>
            <a:chExt cx="146418" cy="2379294"/>
          </a:xfrm>
        </p:grpSpPr>
        <p:sp>
          <p:nvSpPr>
            <p:cNvPr id="1048764" name="Freeform 37"/>
            <p:cNvSpPr/>
            <p:nvPr/>
          </p:nvSpPr>
          <p:spPr>
            <a:xfrm rot="0" flipH="0" flipV="0">
              <a:off x="0" y="0"/>
              <a:ext cx="146431" cy="2379345"/>
            </a:xfrm>
            <a:custGeom>
              <a:avLst/>
              <a:ahLst/>
              <a:rect l="l" t="t" r="r" b="b"/>
              <a:pathLst>
                <a:path w="146431" h="2379345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id="1048765" name="TextBox 38"/>
          <p:cNvSpPr txBox="1"/>
          <p:nvPr/>
        </p:nvSpPr>
        <p:spPr>
          <a:xfrm rot="0">
            <a:off x="9906048" y="6797021"/>
            <a:ext cx="6817747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Assistive</a:t>
            </a:r>
          </a:p>
        </p:txBody>
      </p:sp>
      <p:sp>
        <p:nvSpPr>
          <p:cNvPr id="1048766" name="TextBox 39"/>
          <p:cNvSpPr txBox="1"/>
          <p:nvPr/>
        </p:nvSpPr>
        <p:spPr>
          <a:xfrm rot="0">
            <a:off x="9906048" y="7447502"/>
            <a:ext cx="6817747" cy="70163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a starting draft for review.</a:t>
            </a:r>
          </a:p>
        </p:txBody>
      </p:sp>
      <p:grpSp>
        <p:nvGrpSpPr>
          <p:cNvPr id="106" name="Group 40"/>
          <p:cNvGrpSpPr/>
          <p:nvPr/>
        </p:nvGrpSpPr>
        <p:grpSpPr>
          <a:xfrm rot="0">
            <a:off x="4454033" y="8709317"/>
            <a:ext cx="9348473" cy="769268"/>
            <a:chOff x="0" y="0"/>
            <a:chExt cx="12464631" cy="1025690"/>
          </a:xfrm>
        </p:grpSpPr>
        <p:sp>
          <p:nvSpPr>
            <p:cNvPr id="1048767" name="Freeform 41"/>
            <p:cNvSpPr/>
            <p:nvPr/>
          </p:nvSpPr>
          <p:spPr>
            <a:xfrm rot="0" flipH="0" flipV="0">
              <a:off x="0" y="0"/>
              <a:ext cx="12464669" cy="1025652"/>
            </a:xfrm>
            <a:custGeom>
              <a:avLst/>
              <a:ahLst/>
              <a:rect l="l" t="t" r="r" b="b"/>
              <a:pathLst>
                <a:path w="12464669" h="1025652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2293727" y="0"/>
                  </a:lnTo>
                  <a:cubicBezTo>
                    <a:pt x="12388088" y="0"/>
                    <a:pt x="12464669" y="76581"/>
                    <a:pt x="12464669" y="170942"/>
                  </a:cubicBezTo>
                  <a:lnTo>
                    <a:pt x="12464669" y="854710"/>
                  </a:lnTo>
                  <a:cubicBezTo>
                    <a:pt x="12464669" y="949071"/>
                    <a:pt x="12388088" y="1025652"/>
                    <a:pt x="12293727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68" name="TextBox 42"/>
          <p:cNvSpPr txBox="1"/>
          <p:nvPr/>
        </p:nvSpPr>
        <p:spPr>
          <a:xfrm rot="0">
            <a:off x="4662440" y="8833904"/>
            <a:ext cx="8931669" cy="48200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161"/>
              </a:lnSpc>
            </a:pPr>
            <a:r>
              <a:rPr b="1" sz="18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ASSISTS — HUMAN REVIEW REMAINS IMPORTANT</a:t>
            </a:r>
          </a:p>
        </p:txBody>
      </p:sp>
      <p:sp>
        <p:nvSpPr>
          <p:cNvPr id="1048769" name="TextBox 43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TextBox 2"/>
          <p:cNvSpPr txBox="1"/>
          <p:nvPr/>
        </p:nvSpPr>
        <p:spPr>
          <a:xfrm rot="0">
            <a:off x="846411" y="344348"/>
            <a:ext cx="12033904" cy="74925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Future Scope</a:t>
            </a:r>
          </a:p>
        </p:txBody>
      </p:sp>
      <p:sp>
        <p:nvSpPr>
          <p:cNvPr id="1048771" name="TextBox 3"/>
          <p:cNvSpPr txBox="1"/>
          <p:nvPr/>
        </p:nvSpPr>
        <p:spPr>
          <a:xfrm rot="0">
            <a:off x="887587" y="1188120"/>
            <a:ext cx="13269306" cy="495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Possible enhancements</a:t>
            </a:r>
          </a:p>
        </p:txBody>
      </p:sp>
      <p:grpSp>
        <p:nvGrpSpPr>
          <p:cNvPr id="108" name="Group 4"/>
          <p:cNvGrpSpPr/>
          <p:nvPr/>
        </p:nvGrpSpPr>
        <p:grpSpPr>
          <a:xfrm rot="0">
            <a:off x="816454" y="3287268"/>
            <a:ext cx="2965542" cy="1386973"/>
            <a:chOff x="0" y="0"/>
            <a:chExt cx="3954056" cy="1849298"/>
          </a:xfrm>
        </p:grpSpPr>
        <p:sp>
          <p:nvSpPr>
            <p:cNvPr id="1048772" name="Freeform 5"/>
            <p:cNvSpPr/>
            <p:nvPr/>
          </p:nvSpPr>
          <p:spPr>
            <a:xfrm rot="0" flipH="0" flipV="0">
              <a:off x="0" y="0"/>
              <a:ext cx="3954018" cy="1849247"/>
            </a:xfrm>
            <a:custGeom>
              <a:avLst/>
              <a:ahLst/>
              <a:rect l="l" t="t" r="r" b="b"/>
              <a:pathLst>
                <a:path w="395401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73" name="TextBox 6"/>
          <p:cNvSpPr txBox="1"/>
          <p:nvPr/>
        </p:nvSpPr>
        <p:spPr>
          <a:xfrm rot="0">
            <a:off x="1024861" y="3402320"/>
            <a:ext cx="2548738" cy="110923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VOICE</a:t>
            </a:r>
          </a:p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</a:t>
            </a:r>
          </a:p>
        </p:txBody>
      </p:sp>
      <p:grpSp>
        <p:nvGrpSpPr>
          <p:cNvPr id="109" name="Group 7"/>
          <p:cNvGrpSpPr/>
          <p:nvPr/>
        </p:nvGrpSpPr>
        <p:grpSpPr>
          <a:xfrm rot="0">
            <a:off x="4385405" y="3287268"/>
            <a:ext cx="2965542" cy="1386973"/>
            <a:chOff x="0" y="0"/>
            <a:chExt cx="3954056" cy="1849298"/>
          </a:xfrm>
        </p:grpSpPr>
        <p:sp>
          <p:nvSpPr>
            <p:cNvPr id="1048774" name="Freeform 8"/>
            <p:cNvSpPr/>
            <p:nvPr/>
          </p:nvSpPr>
          <p:spPr>
            <a:xfrm rot="0" flipH="0" flipV="0">
              <a:off x="0" y="0"/>
              <a:ext cx="3954018" cy="1849247"/>
            </a:xfrm>
            <a:custGeom>
              <a:avLst/>
              <a:ahLst/>
              <a:rect l="l" t="t" r="r" b="b"/>
              <a:pathLst>
                <a:path w="395401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75" name="TextBox 9"/>
          <p:cNvSpPr txBox="1"/>
          <p:nvPr/>
        </p:nvSpPr>
        <p:spPr>
          <a:xfrm rot="0">
            <a:off x="4593803" y="3402320"/>
            <a:ext cx="2548738" cy="110923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</a:t>
            </a:r>
          </a:p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LANGUAGE</a:t>
            </a:r>
          </a:p>
        </p:txBody>
      </p:sp>
      <p:grpSp>
        <p:nvGrpSpPr>
          <p:cNvPr id="110" name="Group 10"/>
          <p:cNvGrpSpPr/>
          <p:nvPr/>
        </p:nvGrpSpPr>
        <p:grpSpPr>
          <a:xfrm rot="0">
            <a:off x="7954347" y="3287268"/>
            <a:ext cx="2965542" cy="1386973"/>
            <a:chOff x="0" y="0"/>
            <a:chExt cx="3954056" cy="1849298"/>
          </a:xfrm>
        </p:grpSpPr>
        <p:sp>
          <p:nvSpPr>
            <p:cNvPr id="1048776" name="Freeform 11"/>
            <p:cNvSpPr/>
            <p:nvPr/>
          </p:nvSpPr>
          <p:spPr>
            <a:xfrm rot="0" flipH="0" flipV="0">
              <a:off x="0" y="0"/>
              <a:ext cx="3954018" cy="1849247"/>
            </a:xfrm>
            <a:custGeom>
              <a:avLst/>
              <a:ahLst/>
              <a:rect l="l" t="t" r="r" b="b"/>
              <a:pathLst>
                <a:path w="395401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77" name="TextBox 12"/>
          <p:cNvSpPr txBox="1"/>
          <p:nvPr/>
        </p:nvSpPr>
        <p:spPr>
          <a:xfrm rot="0">
            <a:off x="8162754" y="3402320"/>
            <a:ext cx="2548738" cy="110923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E-SIGNATURE</a:t>
            </a:r>
          </a:p>
        </p:txBody>
      </p:sp>
      <p:grpSp>
        <p:nvGrpSpPr>
          <p:cNvPr id="111" name="Group 13"/>
          <p:cNvGrpSpPr/>
          <p:nvPr/>
        </p:nvGrpSpPr>
        <p:grpSpPr>
          <a:xfrm rot="0">
            <a:off x="11523297" y="3287268"/>
            <a:ext cx="2965542" cy="1386973"/>
            <a:chOff x="0" y="0"/>
            <a:chExt cx="3954056" cy="1849298"/>
          </a:xfrm>
        </p:grpSpPr>
        <p:sp>
          <p:nvSpPr>
            <p:cNvPr id="1048778" name="Freeform 14"/>
            <p:cNvSpPr/>
            <p:nvPr/>
          </p:nvSpPr>
          <p:spPr>
            <a:xfrm rot="0" flipH="0" flipV="0">
              <a:off x="0" y="0"/>
              <a:ext cx="3954018" cy="1849247"/>
            </a:xfrm>
            <a:custGeom>
              <a:avLst/>
              <a:ahLst/>
              <a:rect l="l" t="t" r="r" b="b"/>
              <a:pathLst>
                <a:path w="3954018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79" name="TextBox 15"/>
          <p:cNvSpPr txBox="1"/>
          <p:nvPr/>
        </p:nvSpPr>
        <p:spPr>
          <a:xfrm rot="0">
            <a:off x="11731704" y="3402320"/>
            <a:ext cx="2548738" cy="110923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</a:t>
            </a:r>
          </a:p>
          <a:p>
            <a:pPr algn="ctr">
              <a:lnSpc>
                <a:spcPts val="2521"/>
              </a:lnSpc>
            </a:pPr>
            <a:r>
              <a:rPr b="1" sz="210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</a:t>
            </a:r>
          </a:p>
        </p:txBody>
      </p:sp>
      <p:grpSp>
        <p:nvGrpSpPr>
          <p:cNvPr id="112" name="Group 16"/>
          <p:cNvGrpSpPr/>
          <p:nvPr/>
        </p:nvGrpSpPr>
        <p:grpSpPr>
          <a:xfrm rot="0">
            <a:off x="15092248" y="3287268"/>
            <a:ext cx="2347846" cy="1386973"/>
            <a:chOff x="0" y="0"/>
            <a:chExt cx="3130461" cy="1849298"/>
          </a:xfrm>
        </p:grpSpPr>
        <p:sp>
          <p:nvSpPr>
            <p:cNvPr id="1048780" name="Freeform 17"/>
            <p:cNvSpPr/>
            <p:nvPr/>
          </p:nvSpPr>
          <p:spPr>
            <a:xfrm rot="0" flipH="0" flipV="0">
              <a:off x="0" y="0"/>
              <a:ext cx="3130423" cy="1849247"/>
            </a:xfrm>
            <a:custGeom>
              <a:avLst/>
              <a:ahLst/>
              <a:rect l="l" t="t" r="r" b="b"/>
              <a:pathLst>
                <a:path w="3130423" h="1849247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2822194" y="0"/>
                  </a:lnTo>
                  <a:cubicBezTo>
                    <a:pt x="2992374" y="0"/>
                    <a:pt x="3130423" y="138049"/>
                    <a:pt x="3130423" y="308229"/>
                  </a:cubicBezTo>
                  <a:lnTo>
                    <a:pt x="3130423" y="1541018"/>
                  </a:lnTo>
                  <a:cubicBezTo>
                    <a:pt x="3130423" y="1711198"/>
                    <a:pt x="2992374" y="1849247"/>
                    <a:pt x="2822194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781" name="TextBox 18"/>
          <p:cNvSpPr txBox="1"/>
          <p:nvPr/>
        </p:nvSpPr>
        <p:spPr>
          <a:xfrm rot="0">
            <a:off x="15300646" y="3402320"/>
            <a:ext cx="1931032" cy="1109234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</a:t>
            </a:r>
          </a:p>
          <a:p>
            <a:pPr algn="ctr">
              <a:lnSpc>
                <a:spcPts val="2341"/>
              </a:lnSpc>
            </a:pPr>
            <a:r>
              <a:rPr b="1" sz="19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</a:t>
            </a:r>
          </a:p>
        </p:txBody>
      </p:sp>
      <p:sp>
        <p:nvSpPr>
          <p:cNvPr id="1048782" name="AutoShape 19"/>
          <p:cNvSpPr/>
          <p:nvPr/>
        </p:nvSpPr>
        <p:spPr>
          <a:xfrm rot="199620">
            <a:off x="3755231" y="3971230"/>
            <a:ext cx="656939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783" name="AutoShape 20"/>
          <p:cNvSpPr/>
          <p:nvPr/>
        </p:nvSpPr>
        <p:spPr>
          <a:xfrm rot="199620">
            <a:off x="7324182" y="3971230"/>
            <a:ext cx="656939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784" name="AutoShape 21"/>
          <p:cNvSpPr/>
          <p:nvPr/>
        </p:nvSpPr>
        <p:spPr>
          <a:xfrm rot="199620">
            <a:off x="10893123" y="3971230"/>
            <a:ext cx="656939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785" name="AutoShape 22"/>
          <p:cNvSpPr/>
          <p:nvPr/>
        </p:nvSpPr>
        <p:spPr>
          <a:xfrm rot="199620">
            <a:off x="14462074" y="3971230"/>
            <a:ext cx="656939" cy="0"/>
          </a:xfrm>
          <a:prstGeom prst="line"/>
          <a:ln w="19050" cap="rnd">
            <a:solidFill>
              <a:srgbClr val="366F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3" name="Group 23"/>
          <p:cNvGrpSpPr/>
          <p:nvPr/>
        </p:nvGrpSpPr>
        <p:grpSpPr>
          <a:xfrm rot="0">
            <a:off x="2738199" y="6238513"/>
            <a:ext cx="13054689" cy="1730140"/>
            <a:chOff x="0" y="0"/>
            <a:chExt cx="17406252" cy="2306853"/>
          </a:xfrm>
        </p:grpSpPr>
        <p:sp>
          <p:nvSpPr>
            <p:cNvPr id="1048786" name="Freeform 24"/>
            <p:cNvSpPr/>
            <p:nvPr/>
          </p:nvSpPr>
          <p:spPr>
            <a:xfrm rot="0" flipH="0" flipV="0">
              <a:off x="0" y="0"/>
              <a:ext cx="17406240" cy="2306828"/>
            </a:xfrm>
            <a:custGeom>
              <a:avLst/>
              <a:ahLst/>
              <a:rect l="l" t="t" r="r" b="b"/>
              <a:pathLst>
                <a:path w="17406240" h="230682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7021811" y="0"/>
                  </a:lnTo>
                  <a:cubicBezTo>
                    <a:pt x="17234154" y="0"/>
                    <a:pt x="17406240" y="172085"/>
                    <a:pt x="17406240" y="384429"/>
                  </a:cubicBezTo>
                  <a:lnTo>
                    <a:pt x="17406240" y="1922399"/>
                  </a:lnTo>
                  <a:cubicBezTo>
                    <a:pt x="17406240" y="2134743"/>
                    <a:pt x="17234154" y="2306828"/>
                    <a:pt x="17021811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14" name="Group 25"/>
          <p:cNvGrpSpPr/>
          <p:nvPr/>
        </p:nvGrpSpPr>
        <p:grpSpPr>
          <a:xfrm rot="0">
            <a:off x="2745343" y="6245657"/>
            <a:ext cx="109814" cy="1715843"/>
            <a:chOff x="0" y="0"/>
            <a:chExt cx="146418" cy="2287791"/>
          </a:xfrm>
        </p:grpSpPr>
        <p:sp>
          <p:nvSpPr>
            <p:cNvPr id="1048787" name="Freeform 26"/>
            <p:cNvSpPr/>
            <p:nvPr/>
          </p:nvSpPr>
          <p:spPr>
            <a:xfrm rot="0" flipH="0" flipV="0">
              <a:off x="0" y="0"/>
              <a:ext cx="146431" cy="2287778"/>
            </a:xfrm>
            <a:custGeom>
              <a:avLst/>
              <a:ahLst/>
              <a:rect l="l" t="t" r="r" b="b"/>
              <a:pathLst>
                <a:path w="146431" h="2287778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788" name="TextBox 27"/>
          <p:cNvSpPr txBox="1"/>
          <p:nvPr/>
        </p:nvSpPr>
        <p:spPr>
          <a:xfrm rot="0">
            <a:off x="3179950" y="6453854"/>
            <a:ext cx="12239806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vision</a:t>
            </a:r>
          </a:p>
        </p:txBody>
      </p:sp>
      <p:sp>
        <p:nvSpPr>
          <p:cNvPr id="1048789" name="TextBox 28"/>
          <p:cNvSpPr txBox="1"/>
          <p:nvPr/>
        </p:nvSpPr>
        <p:spPr>
          <a:xfrm rot="0">
            <a:off x="3179950" y="7104336"/>
            <a:ext cx="12239806" cy="632993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Expand supported languages, document types, integrations and validation tools while maintaining privacy and human oversight.</a:t>
            </a:r>
          </a:p>
        </p:txBody>
      </p:sp>
      <p:sp>
        <p:nvSpPr>
          <p:cNvPr id="1048790" name="TextBox 29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TextBox 2"/>
          <p:cNvSpPr txBox="1"/>
          <p:nvPr/>
        </p:nvSpPr>
        <p:spPr>
          <a:xfrm rot="0">
            <a:off x="846411" y="344348"/>
            <a:ext cx="12033904" cy="74925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3"/>
              </a:lnSpc>
            </a:pPr>
            <a:r>
              <a:rPr b="1" sz="4203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 Conclusion</a:t>
            </a:r>
          </a:p>
        </p:txBody>
      </p:sp>
      <p:sp>
        <p:nvSpPr>
          <p:cNvPr id="1048792" name="TextBox 3"/>
          <p:cNvSpPr txBox="1"/>
          <p:nvPr/>
        </p:nvSpPr>
        <p:spPr>
          <a:xfrm rot="0">
            <a:off x="887587" y="1188120"/>
            <a:ext cx="13269306" cy="495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161"/>
              </a:lnSpc>
            </a:pPr>
            <a:r>
              <a:rPr sz="180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Summary</a:t>
            </a:r>
          </a:p>
        </p:txBody>
      </p:sp>
      <p:grpSp>
        <p:nvGrpSpPr>
          <p:cNvPr id="116" name="Group 4"/>
          <p:cNvGrpSpPr/>
          <p:nvPr/>
        </p:nvGrpSpPr>
        <p:grpSpPr>
          <a:xfrm rot="0">
            <a:off x="1090984" y="2120494"/>
            <a:ext cx="7701267" cy="1867405"/>
            <a:chOff x="0" y="0"/>
            <a:chExt cx="10268356" cy="2489873"/>
          </a:xfrm>
        </p:grpSpPr>
        <p:sp>
          <p:nvSpPr>
            <p:cNvPr id="1048793" name="Freeform 5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17" name="Group 6"/>
          <p:cNvGrpSpPr/>
          <p:nvPr/>
        </p:nvGrpSpPr>
        <p:grpSpPr>
          <a:xfrm rot="0">
            <a:off x="1098137" y="2127647"/>
            <a:ext cx="109814" cy="1853108"/>
            <a:chOff x="0" y="0"/>
            <a:chExt cx="146418" cy="2470810"/>
          </a:xfrm>
        </p:grpSpPr>
        <p:sp>
          <p:nvSpPr>
            <p:cNvPr id="1048794" name="Freeform 7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795" name="TextBox 8"/>
          <p:cNvSpPr txBox="1"/>
          <p:nvPr/>
        </p:nvSpPr>
        <p:spPr>
          <a:xfrm rot="0">
            <a:off x="1532744" y="2335844"/>
            <a:ext cx="6886384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LegalEase does</a:t>
            </a:r>
          </a:p>
        </p:txBody>
      </p:sp>
      <p:sp>
        <p:nvSpPr>
          <p:cNvPr id="1048796" name="TextBox 9"/>
          <p:cNvSpPr txBox="1"/>
          <p:nvPr/>
        </p:nvSpPr>
        <p:spPr>
          <a:xfrm rot="0">
            <a:off x="1532744" y="2986316"/>
            <a:ext cx="6886384" cy="77026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Uses AI to help transform user-provided information into structured legal document drafts.</a:t>
            </a:r>
          </a:p>
        </p:txBody>
      </p:sp>
      <p:grpSp>
        <p:nvGrpSpPr>
          <p:cNvPr id="118" name="Group 10"/>
          <p:cNvGrpSpPr/>
          <p:nvPr/>
        </p:nvGrpSpPr>
        <p:grpSpPr>
          <a:xfrm rot="0">
            <a:off x="1090984" y="4454033"/>
            <a:ext cx="7701267" cy="1867405"/>
            <a:chOff x="0" y="0"/>
            <a:chExt cx="10268356" cy="2489873"/>
          </a:xfrm>
        </p:grpSpPr>
        <p:sp>
          <p:nvSpPr>
            <p:cNvPr id="1048797" name="Freeform 11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19" name="Group 12"/>
          <p:cNvGrpSpPr/>
          <p:nvPr/>
        </p:nvGrpSpPr>
        <p:grpSpPr>
          <a:xfrm rot="0">
            <a:off x="1098137" y="4461186"/>
            <a:ext cx="109814" cy="1853108"/>
            <a:chOff x="0" y="0"/>
            <a:chExt cx="146418" cy="2470810"/>
          </a:xfrm>
        </p:grpSpPr>
        <p:sp>
          <p:nvSpPr>
            <p:cNvPr id="1048798" name="Freeform 13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799" name="TextBox 14"/>
          <p:cNvSpPr txBox="1"/>
          <p:nvPr/>
        </p:nvSpPr>
        <p:spPr>
          <a:xfrm rot="0">
            <a:off x="1532744" y="4669384"/>
            <a:ext cx="6886384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matters</a:t>
            </a:r>
          </a:p>
        </p:txBody>
      </p:sp>
      <p:sp>
        <p:nvSpPr>
          <p:cNvPr id="1048800" name="TextBox 15"/>
          <p:cNvSpPr txBox="1"/>
          <p:nvPr/>
        </p:nvSpPr>
        <p:spPr>
          <a:xfrm rot="0">
            <a:off x="1532744" y="5319865"/>
            <a:ext cx="6886384" cy="77026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Can reduce repetitive work and make basic drafting more convenient.</a:t>
            </a:r>
          </a:p>
        </p:txBody>
      </p:sp>
      <p:grpSp>
        <p:nvGrpSpPr>
          <p:cNvPr id="120" name="Group 16"/>
          <p:cNvGrpSpPr/>
          <p:nvPr/>
        </p:nvGrpSpPr>
        <p:grpSpPr>
          <a:xfrm rot="0">
            <a:off x="9601562" y="2120494"/>
            <a:ext cx="7701267" cy="1867405"/>
            <a:chOff x="0" y="0"/>
            <a:chExt cx="10268356" cy="2489873"/>
          </a:xfrm>
        </p:grpSpPr>
        <p:sp>
          <p:nvSpPr>
            <p:cNvPr id="1048801" name="Freeform 17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21" name="Group 18"/>
          <p:cNvGrpSpPr/>
          <p:nvPr/>
        </p:nvGrpSpPr>
        <p:grpSpPr>
          <a:xfrm rot="0">
            <a:off x="9608706" y="2127647"/>
            <a:ext cx="109814" cy="1853108"/>
            <a:chOff x="0" y="0"/>
            <a:chExt cx="146418" cy="2470810"/>
          </a:xfrm>
        </p:grpSpPr>
        <p:sp>
          <p:nvSpPr>
            <p:cNvPr id="1048802" name="Freeform 19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803" name="TextBox 20"/>
          <p:cNvSpPr txBox="1"/>
          <p:nvPr/>
        </p:nvSpPr>
        <p:spPr>
          <a:xfrm rot="0">
            <a:off x="10043312" y="2335844"/>
            <a:ext cx="6886384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Human role</a:t>
            </a:r>
          </a:p>
        </p:txBody>
      </p:sp>
      <p:sp>
        <p:nvSpPr>
          <p:cNvPr id="1048804" name="TextBox 21"/>
          <p:cNvSpPr txBox="1"/>
          <p:nvPr/>
        </p:nvSpPr>
        <p:spPr>
          <a:xfrm rot="0">
            <a:off x="10043312" y="2986316"/>
            <a:ext cx="6886384" cy="77026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Users should review the output for accuracy and context.</a:t>
            </a:r>
          </a:p>
        </p:txBody>
      </p:sp>
      <p:grpSp>
        <p:nvGrpSpPr>
          <p:cNvPr id="122" name="Group 22"/>
          <p:cNvGrpSpPr/>
          <p:nvPr/>
        </p:nvGrpSpPr>
        <p:grpSpPr>
          <a:xfrm rot="0">
            <a:off x="9601562" y="4454033"/>
            <a:ext cx="7701267" cy="1867405"/>
            <a:chOff x="0" y="0"/>
            <a:chExt cx="10268356" cy="2489873"/>
          </a:xfrm>
        </p:grpSpPr>
        <p:sp>
          <p:nvSpPr>
            <p:cNvPr id="1048805" name="Freeform 23"/>
            <p:cNvSpPr/>
            <p:nvPr/>
          </p:nvSpPr>
          <p:spPr>
            <a:xfrm rot="0" flipH="0" flipV="0">
              <a:off x="0" y="0"/>
              <a:ext cx="10268458" cy="2489962"/>
            </a:xfrm>
            <a:custGeom>
              <a:avLst/>
              <a:ahLst/>
              <a:rect l="l" t="t" r="r" b="b"/>
              <a:pathLst>
                <a:path w="10268458" h="248996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23" name="Group 24"/>
          <p:cNvGrpSpPr/>
          <p:nvPr/>
        </p:nvGrpSpPr>
        <p:grpSpPr>
          <a:xfrm rot="0">
            <a:off x="9608706" y="4461186"/>
            <a:ext cx="109814" cy="1853108"/>
            <a:chOff x="0" y="0"/>
            <a:chExt cx="146418" cy="2470810"/>
          </a:xfrm>
        </p:grpSpPr>
        <p:sp>
          <p:nvSpPr>
            <p:cNvPr id="1048806" name="Freeform 25"/>
            <p:cNvSpPr/>
            <p:nvPr/>
          </p:nvSpPr>
          <p:spPr>
            <a:xfrm rot="0" flipH="0" flipV="0">
              <a:off x="0" y="0"/>
              <a:ext cx="146431" cy="2470785"/>
            </a:xfrm>
            <a:custGeom>
              <a:avLst/>
              <a:ahLst/>
              <a:rect l="l" t="t" r="r" b="b"/>
              <a:pathLst>
                <a:path w="146431" h="2470785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id="1048807" name="TextBox 26"/>
          <p:cNvSpPr txBox="1"/>
          <p:nvPr/>
        </p:nvSpPr>
        <p:spPr>
          <a:xfrm rot="0">
            <a:off x="10043312" y="4669384"/>
            <a:ext cx="6886384" cy="5147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 responsibility</a:t>
            </a:r>
          </a:p>
        </p:txBody>
      </p:sp>
      <p:sp>
        <p:nvSpPr>
          <p:cNvPr id="1048808" name="TextBox 27"/>
          <p:cNvSpPr txBox="1"/>
          <p:nvPr/>
        </p:nvSpPr>
        <p:spPr>
          <a:xfrm rot="0">
            <a:off x="10043312" y="5319865"/>
            <a:ext cx="6886384" cy="77026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071"/>
              </a:lnSpc>
            </a:pPr>
            <a:r>
              <a:rPr sz="1726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For important legal matters, qualified legal advice should be obtained.</a:t>
            </a:r>
          </a:p>
        </p:txBody>
      </p:sp>
      <p:grpSp>
        <p:nvGrpSpPr>
          <p:cNvPr id="124" name="Group 28"/>
          <p:cNvGrpSpPr/>
          <p:nvPr/>
        </p:nvGrpSpPr>
        <p:grpSpPr>
          <a:xfrm rot="0">
            <a:off x="4522670" y="7473915"/>
            <a:ext cx="9211208" cy="1112434"/>
            <a:chOff x="0" y="0"/>
            <a:chExt cx="12281611" cy="1483246"/>
          </a:xfrm>
        </p:grpSpPr>
        <p:sp>
          <p:nvSpPr>
            <p:cNvPr id="1048809" name="Freeform 29"/>
            <p:cNvSpPr/>
            <p:nvPr/>
          </p:nvSpPr>
          <p:spPr>
            <a:xfrm rot="0" flipH="0" flipV="0">
              <a:off x="0" y="0"/>
              <a:ext cx="12281662" cy="1483360"/>
            </a:xfrm>
            <a:custGeom>
              <a:avLst/>
              <a:ahLst/>
              <a:rect l="l" t="t" r="r" b="b"/>
              <a:pathLst>
                <a:path w="12281662" h="1483360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12034393" y="0"/>
                  </a:lnTo>
                  <a:cubicBezTo>
                    <a:pt x="12170918" y="0"/>
                    <a:pt x="12281662" y="110744"/>
                    <a:pt x="12281662" y="247269"/>
                  </a:cubicBezTo>
                  <a:lnTo>
                    <a:pt x="12281662" y="1236091"/>
                  </a:lnTo>
                  <a:cubicBezTo>
                    <a:pt x="12281662" y="1372616"/>
                    <a:pt x="12170918" y="1483360"/>
                    <a:pt x="12034393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48810" name="TextBox 30"/>
          <p:cNvSpPr txBox="1"/>
          <p:nvPr/>
        </p:nvSpPr>
        <p:spPr>
          <a:xfrm rot="0">
            <a:off x="4731077" y="7579452"/>
            <a:ext cx="8794394" cy="844220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702"/>
              </a:lnSpc>
            </a:pPr>
            <a:r>
              <a:rPr b="1" sz="2251" lang="en-US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LEGALease = AI ASSISTANCE + HUMAN REVIEW</a:t>
            </a:r>
          </a:p>
        </p:txBody>
      </p:sp>
      <p:sp>
        <p:nvSpPr>
          <p:cNvPr id="1048811" name="TextBox 31"/>
          <p:cNvSpPr txBox="1"/>
          <p:nvPr/>
        </p:nvSpPr>
        <p:spPr>
          <a:xfrm rot="0">
            <a:off x="16426244" y="9694488"/>
            <a:ext cx="640728" cy="211674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1621"/>
              </a:lnSpc>
            </a:pPr>
            <a:r>
              <a:rPr sz="1351" lang="en-US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LegalEase_AI_Legal_Document_Generator_Diagram_PPT.pptx</dc:title>
  <dc:creator>CPH2681</dc:creator>
  <dcterms:created xsi:type="dcterms:W3CDTF">2006-08-15T02:00:00Z</dcterms:created>
  <dcterms:modified xsi:type="dcterms:W3CDTF">2026-10-01T05:19:29Z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6e7a2b5267454365a8e61e154bec13ba_23</vt:lpwstr>
  </property>
</Properties>
</file>